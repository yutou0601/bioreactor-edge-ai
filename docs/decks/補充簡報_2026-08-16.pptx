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2015999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376000"/>
            <a:ext cx="107532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3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補　充　簡　報</a:t>
            </a:r>
          </a:p>
          <a:p>
            <a:pPr algn="ctr">
              <a:spcAft>
                <a:spcPts val="12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主簡報未收錄的四件事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機制 ｜ 負值 ｜ 用途 ｜ 貢獻</a:t>
            </a:r>
          </a:p>
        </p:txBody>
      </p:sp>
      <p:sp>
        <p:nvSpPr>
          <p:cNvPr id="4" name="Rectangle 3"/>
          <p:cNvSpPr/>
          <p:nvPr/>
        </p:nvSpPr>
        <p:spPr>
          <a:xfrm>
            <a:off x="216000" y="45360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「拿 </a:t>
            </a:r>
            <a:r>
              <a:rPr sz="2800" b="1" i="1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k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換 </a:t>
            </a:r>
            <a:r>
              <a:rPr sz="2800" b="1" i="1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r</a:t>
            </a:r>
            <a:r>
              <a:rPr sz="2800" b="1" i="1" baseline="-2500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b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」到底是怎麼換的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主簡報只說兩者會連動，沒說為什麼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2</a:t>
            </a:r>
          </a:p>
        </p:txBody>
      </p:sp>
      <p:pic>
        <p:nvPicPr>
          <p:cNvPr id="7" name="Picture 6" descr="figX1_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0" y="1116000"/>
            <a:ext cx="7848000" cy="28415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00" y="4104000"/>
            <a:ext cx="11041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圖 1.　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同一段資料、同一個真相，只把 </a:t>
            </a:r>
            <a:r>
              <a:rPr sz="1150" b="0" i="1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k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 釘在不同的值。左：擬合被迫給出的 </a:t>
            </a:r>
            <a:r>
              <a:rPr sz="1150" b="0" i="1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r</a:t>
            </a:r>
            <a:r>
              <a:rPr sz="1150" b="0" i="1" baseline="-2500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b</a:t>
            </a:r>
            <a:r>
              <a:rPr sz="11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。右：兩項各自解釋掉多少下降量。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4464000"/>
            <a:ext cx="11041200" cy="93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• </a:t>
            </a:r>
            <a:r>
              <a:rPr sz="1500" b="0" i="1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k</a:t>
            </a: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猜小 → </a:t>
            </a: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e</a:t>
            </a:r>
            <a:r>
              <a:rPr sz="1500" b="0" i="1" baseline="3000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−kt</a:t>
            </a: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在整個窗裡幾乎是直線 → 指數項自己就吃掉整段下降 → </a:t>
            </a:r>
            <a:r>
              <a:rPr sz="15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線性項不必做事，</a:t>
            </a:r>
            <a:r>
              <a:rPr sz="1500" b="1" i="1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r</a:t>
            </a:r>
            <a:r>
              <a:rPr sz="1500" b="1" i="1" baseline="-2500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b</a:t>
            </a:r>
            <a:r>
              <a:rPr sz="15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 被壓小甚至變負</a:t>
            </a:r>
          </a:p>
          <a:p>
            <a:pPr algn="l">
              <a:spcAft>
                <a:spcPts val="7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• </a:t>
            </a:r>
            <a:r>
              <a:rPr sz="1500" b="0" i="1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k</a:t>
            </a: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猜大 → 指數項前面掉完就平了 → 剩下的長直段沒人扛 → </a:t>
            </a:r>
            <a:r>
              <a:rPr sz="15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線性項被迫接手，</a:t>
            </a:r>
            <a:r>
              <a:rPr sz="1500" b="1" i="1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r</a:t>
            </a:r>
            <a:r>
              <a:rPr sz="1500" b="1" i="1" baseline="-2500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b</a:t>
            </a:r>
            <a:r>
              <a:rPr sz="15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被推大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• 所以就算每一段的真實速率完全相同，</a:t>
            </a:r>
            <a:r>
              <a:rPr sz="1500" b="0" i="1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k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̂ 與 </a:t>
            </a:r>
            <a:r>
              <a:rPr sz="1500" b="0" i="1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r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̂</a:t>
            </a:r>
            <a:r>
              <a:rPr sz="1500" b="0" i="1" baseline="-2500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b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 也會一起大一起小 —— 這就是「假影」的來源。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5562000"/>
            <a:ext cx="11329200" cy="864000"/>
          </a:xfrm>
          <a:prstGeom prst="rect">
            <a:avLst/>
          </a:prstGeom>
          <a:solidFill>
            <a:srgbClr val="F2F7FC"/>
          </a:solidFill>
          <a:ln w="9525">
            <a:solidFill>
              <a:srgbClr val="2AB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000" y="5670000"/>
            <a:ext cx="10969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★ 實測：</a:t>
            </a:r>
            <a:r>
              <a:rPr sz="1300" b="0" i="1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k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釘 0.02 給出 </a:t>
            </a:r>
            <a:r>
              <a:rPr sz="1300" b="0" i="1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r</a:t>
            </a:r>
            <a:r>
              <a:rPr sz="1300" b="0" i="1" baseline="-2500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b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= −0.031，釘 0.80 給出 +0.022，真相是 0.0126。而 </a:t>
            </a:r>
            <a:r>
              <a:rPr sz="1300" b="0" i="1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k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從 0.05 移到 0.10，殘差平方和只差 1.1×10⁻⁴ —— 資料幾乎分不出誰對。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為什麼有兩成的段算出負的速率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主簡報把這個弱點畫了出來，這頁回答它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3999" y="1152000"/>
          <a:ext cx="111960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64000"/>
                <a:gridCol w="2376000"/>
                <a:gridCol w="4356000"/>
              </a:tblGrid>
              <a:tr h="378000">
                <a:tc>
                  <a:txBody>
                    <a:bodyPr/>
                    <a:lstStyle/>
                    <a:p>
                      <a:pPr algn="ctr"/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負值比例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說明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實測（資料集 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C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全部 280 段）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21%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物理上不可能有負的生物速率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模擬（真值固定 0.0126）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4%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同樣的雜訊、量化與估計器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差距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17 個百分點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⚠ 沒有被解釋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6000" y="2880000"/>
            <a:ext cx="110412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能講的部分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• 單一段的估計本來就很吵：擬合在 </a:t>
            </a:r>
            <a:r>
              <a:rPr sz="1500" b="0" i="1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k</a:t>
            </a: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上稍微偏一點，</a:t>
            </a:r>
            <a:r>
              <a:rPr sz="1500" b="0" i="1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r</a:t>
            </a:r>
            <a:r>
              <a:rPr sz="1500" b="0" i="1" baseline="-2500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b</a:t>
            </a: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就會被推到負的（見前一頁）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• 所以本文從頭到尾只用中位數，不用逐段值</a:t>
            </a:r>
          </a:p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不能講的部分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• 模擬只產生 4% 負值，實測 21% —— 多出來的 17 個百分點目前沒有解釋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• 可能的方向：真值本身逐段不同、部分段混入其他事件、或模擬器仍與實測可分辨（</a:t>
            </a: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AUC</a:t>
            </a: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0.695）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5562000"/>
            <a:ext cx="11329200" cy="864000"/>
          </a:xfrm>
          <a:prstGeom prst="rect">
            <a:avLst/>
          </a:prstGeom>
          <a:solidFill>
            <a:srgbClr val="F2F7FC"/>
          </a:solidFill>
          <a:ln w="9525">
            <a:solidFill>
              <a:srgbClr val="2AB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5670000"/>
            <a:ext cx="10969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★ 誠實的說法：負值比例偏高，是「逐段的值不可單獨使用」這條限制的直接證據，不是方法失效的證據 —— 但兩者的差距我們還沒有查清楚。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這個速率可以拿來做什麼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主簡報證明了「做得到」，這頁講「要幹嘛」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224000"/>
            <a:ext cx="2700000" cy="18720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2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99" y="1386000"/>
            <a:ext cx="2448001" cy="15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900"/>
              </a:spcAft>
            </a:pPr>
            <a:r>
              <a:rPr sz="16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看菌還活著嗎</a:t>
            </a:r>
          </a:p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速率掉下來就是活性衰退的訊號，不必等到甲烷濃度掉才發現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000" y="1224000"/>
            <a:ext cx="2700000" cy="18720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2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9999" y="1386000"/>
            <a:ext cx="2448001" cy="15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900"/>
              </a:spcAft>
            </a:pPr>
            <a:r>
              <a:rPr sz="16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比較操作條件</a:t>
            </a:r>
          </a:p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換液、換循環時間、換氣體比例前後，有一把共同的尺可以比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8000" y="1224000"/>
            <a:ext cx="2700000" cy="18720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2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3999" y="1386000"/>
            <a:ext cx="2448001" cy="15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900"/>
              </a:spcAft>
            </a:pPr>
            <a:r>
              <a:rPr sz="16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不打擾生產</a:t>
            </a:r>
          </a:p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不加感測器、不對槽體施加激發，用的是設備本來就會產生的紀錄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42000" y="1224000"/>
            <a:ext cx="2700000" cy="1872000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2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7999" y="1386000"/>
            <a:ext cx="2448001" cy="15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900"/>
              </a:spcAft>
            </a:pPr>
            <a:r>
              <a:rPr sz="16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跑得動</a:t>
            </a:r>
          </a:p>
          <a:p>
            <a:pPr algn="ctr">
              <a:spcAft>
                <a:spcPts val="600"/>
              </a:spcAft>
            </a:pPr>
            <a:r>
              <a:rPr sz="12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純 </a:t>
            </a:r>
            <a:r>
              <a:rPr sz="12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NumPy</a:t>
            </a:r>
            <a:r>
              <a:rPr sz="12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，塞得進監控電腦的 60 </a:t>
            </a:r>
            <a:r>
              <a:rPr sz="12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MB</a:t>
            </a:r>
            <a:r>
              <a:rPr sz="125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 預算，不必上傳雲端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" y="3384000"/>
            <a:ext cx="110412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前提是把它當「相對指標」用。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本文報的是壓力單位的速率，還沒換算成 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mol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hr</a:t>
            </a:r>
            <a:r>
              <a:rPr sz="15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（缺頭空體積與操作溫度）；也還沒有文獻或現場基準可以說 0.0126 算快還是慢。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所以現階段能做的是「</a:t>
            </a:r>
            <a:r>
              <a:rPr sz="15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同一台機器、不同時間互相比</a:t>
            </a: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」，不是拿去跟別人的反應器比。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5562000"/>
            <a:ext cx="11329200" cy="864000"/>
          </a:xfrm>
          <a:prstGeom prst="rect">
            <a:avLst/>
          </a:prstGeom>
          <a:solidFill>
            <a:srgbClr val="F2F7FC"/>
          </a:solidFill>
          <a:ln w="9525">
            <a:solidFill>
              <a:srgbClr val="2AB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5670000"/>
            <a:ext cx="10969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★ 待補：把速率換成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mol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hr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需要頭空體積與操作溫度（問洪博）；要判斷快慢需要文獻基準（需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DOI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查證）。這兩件事補上之前，不要在報告裡宣稱絕對水準。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貢獻是什麼 —— 相對於前人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學術場合必問，主簡報沒有一頁講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3999" y="1152000"/>
          <a:ext cx="11195999" cy="203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4000"/>
                <a:gridCol w="5040000"/>
                <a:gridCol w="3851999"/>
              </a:tblGrid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項目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前人已有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本文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統計方法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間接推論、經驗校準、分類器雙樣本檢定皆為既有技術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沿用，未宣稱方法新穎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監控控制器層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Iturbe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等已做「監控控制器以區分異動來源」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讀不到控制器，只能由壓力反推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動態除氣法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Bandyopadhyay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1967 即有，早 59 年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不宣稱是新的量測原理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所報的量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耦合式寫法下，</a:t>
                      </a:r>
                      <a:r>
                        <a:rPr sz="1300" b="0" i="1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r</a:t>
                      </a:r>
                      <a:r>
                        <a:rPr sz="1300" b="0" i="1" baseline="-2500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b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只以 </a:t>
                      </a:r>
                      <a:r>
                        <a:rPr sz="1300" b="0" i="1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P</a:t>
                      </a:r>
                      <a:r>
                        <a:rPr sz="1300" b="0" i="0" baseline="-2500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eq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− </a:t>
                      </a:r>
                      <a:r>
                        <a:rPr sz="1300" b="0" i="1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r</a:t>
                      </a:r>
                      <a:r>
                        <a:rPr sz="1300" b="0" i="1" baseline="-2500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b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/</a:t>
                      </a:r>
                      <a:r>
                        <a:rPr sz="1300" b="0" i="1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k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出現，不可辨識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★ 改以相加式分解，明確定義為線性項的係數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真正新的地方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厭氧消化領域尚無「單一量化壓力通道 +設計配對校準」的作法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★ 領域缺口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6000" y="3456000"/>
            <a:ext cx="11041200" cy="15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把話講白：</a:t>
            </a:r>
            <a:r>
              <a:rPr sz="17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本文沒有發明新的統計方法。</a:t>
            </a:r>
          </a:p>
          <a:p>
            <a:pPr algn="l">
              <a:spcAft>
                <a:spcPts val="110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貢獻在於把既有的校準邏輯，用在一個「不能加裝、不能激發、只有一支量化壓力計」的生產設備上，並且把做不到的部分一起報出來。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⚠ 不要說「我們誠實報告了失敗的回收」：</a:t>
            </a: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8 月版的 </a:t>
            </a:r>
            <a:r>
              <a:rPr sz="1500" b="0" i="1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p</a:t>
            </a:r>
            <a:r>
              <a:rPr sz="15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= 0.40 求的是耦合式裡的生物消耗率，本文求的是相加式裡線性項的係數 —— </a:t>
            </a:r>
            <a:r>
              <a:rPr sz="15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兩者本來就是不同的量，不是同一件事沒做成。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5562000"/>
            <a:ext cx="11329200" cy="864000"/>
          </a:xfrm>
          <a:prstGeom prst="rect">
            <a:avLst/>
          </a:prstGeom>
          <a:solidFill>
            <a:srgbClr val="F2F7FC"/>
          </a:solidFill>
          <a:ln w="9525">
            <a:solidFill>
              <a:srgbClr val="2AB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5670000"/>
            <a:ext cx="10969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⚠ 這頁的每一條都應該在投稿前再查一次文獻，尤其「領域尚無此作法」這種宣稱最容易被審稿人推翻。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