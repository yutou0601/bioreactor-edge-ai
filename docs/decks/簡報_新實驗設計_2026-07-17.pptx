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64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2C42-6174-463E-B7B4-70E19DA5A663}" v="18" dt="2026-07-18T16:24:34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yu" userId="2a45ba8d50c0f72c" providerId="LiveId" clId="{B80342A3-E94B-4495-B5AA-B2FD1E483B9B}"/>
    <pc:docChg chg="undo custSel addSld delSld modSld sldOrd">
      <pc:chgData name="jack yu" userId="2a45ba8d50c0f72c" providerId="LiveId" clId="{B80342A3-E94B-4495-B5AA-B2FD1E483B9B}" dt="2026-07-18T16:25:10.233" v="445" actId="2711"/>
      <pc:docMkLst>
        <pc:docMk/>
      </pc:docMkLst>
      <pc:sldChg chg="del">
        <pc:chgData name="jack yu" userId="2a45ba8d50c0f72c" providerId="LiveId" clId="{B80342A3-E94B-4495-B5AA-B2FD1E483B9B}" dt="2026-07-18T16:06:11.671" v="1" actId="47"/>
        <pc:sldMkLst>
          <pc:docMk/>
          <pc:sldMk cId="0" sldId="256"/>
        </pc:sldMkLst>
      </pc:sldChg>
      <pc:sldChg chg="add">
        <pc:chgData name="jack yu" userId="2a45ba8d50c0f72c" providerId="LiveId" clId="{B80342A3-E94B-4495-B5AA-B2FD1E483B9B}" dt="2026-07-18T16:06:23.014" v="2"/>
        <pc:sldMkLst>
          <pc:docMk/>
          <pc:sldMk cId="1983503236" sldId="256"/>
        </pc:sldMkLst>
      </pc:sldChg>
      <pc:sldChg chg="modSp mod ord">
        <pc:chgData name="jack yu" userId="2a45ba8d50c0f72c" providerId="LiveId" clId="{B80342A3-E94B-4495-B5AA-B2FD1E483B9B}" dt="2026-07-18T16:09:14.395" v="83" actId="2711"/>
        <pc:sldMkLst>
          <pc:docMk/>
          <pc:sldMk cId="0" sldId="257"/>
        </pc:sldMkLst>
        <pc:graphicFrameChg chg="mod modGraphic">
          <ac:chgData name="jack yu" userId="2a45ba8d50c0f72c" providerId="LiveId" clId="{B80342A3-E94B-4495-B5AA-B2FD1E483B9B}" dt="2026-07-18T16:09:14.395" v="83" actId="2711"/>
          <ac:graphicFrameMkLst>
            <pc:docMk/>
            <pc:sldMk cId="0" sldId="257"/>
            <ac:graphicFrameMk id="12" creationId="{00000000-0000-0000-0000-000000000000}"/>
          </ac:graphicFrameMkLst>
        </pc:graphicFrameChg>
      </pc:sldChg>
      <pc:sldChg chg="modSp mod ord">
        <pc:chgData name="jack yu" userId="2a45ba8d50c0f72c" providerId="LiveId" clId="{B80342A3-E94B-4495-B5AA-B2FD1E483B9B}" dt="2026-07-18T16:20:55.598" v="216" actId="1076"/>
        <pc:sldMkLst>
          <pc:docMk/>
          <pc:sldMk cId="0" sldId="258"/>
        </pc:sldMkLst>
        <pc:spChg chg="mod">
          <ac:chgData name="jack yu" userId="2a45ba8d50c0f72c" providerId="LiveId" clId="{B80342A3-E94B-4495-B5AA-B2FD1E483B9B}" dt="2026-07-18T16:20:52.804" v="215" actId="1076"/>
          <ac:spMkLst>
            <pc:docMk/>
            <pc:sldMk cId="0" sldId="258"/>
            <ac:spMk id="6" creationId="{00000000-0000-0000-0000-000000000000}"/>
          </ac:spMkLst>
        </pc:spChg>
        <pc:graphicFrameChg chg="mod modGraphic">
          <ac:chgData name="jack yu" userId="2a45ba8d50c0f72c" providerId="LiveId" clId="{B80342A3-E94B-4495-B5AA-B2FD1E483B9B}" dt="2026-07-18T16:20:55.598" v="216" actId="1076"/>
          <ac:graphicFrameMkLst>
            <pc:docMk/>
            <pc:sldMk cId="0" sldId="258"/>
            <ac:graphicFrameMk id="5" creationId="{00000000-0000-0000-0000-000000000000}"/>
          </ac:graphicFrameMkLst>
        </pc:graphicFrameChg>
        <pc:picChg chg="mod">
          <ac:chgData name="jack yu" userId="2a45ba8d50c0f72c" providerId="LiveId" clId="{B80342A3-E94B-4495-B5AA-B2FD1E483B9B}" dt="2026-07-18T16:11:38.103" v="126" actId="14100"/>
          <ac:picMkLst>
            <pc:docMk/>
            <pc:sldMk cId="0" sldId="258"/>
            <ac:picMk id="4" creationId="{00000000-0000-0000-0000-000000000000}"/>
          </ac:picMkLst>
        </pc:picChg>
      </pc:sldChg>
      <pc:sldChg chg="delSp modSp mod">
        <pc:chgData name="jack yu" userId="2a45ba8d50c0f72c" providerId="LiveId" clId="{B80342A3-E94B-4495-B5AA-B2FD1E483B9B}" dt="2026-07-18T16:25:10.233" v="445" actId="2711"/>
        <pc:sldMkLst>
          <pc:docMk/>
          <pc:sldMk cId="0" sldId="259"/>
        </pc:sldMkLst>
        <pc:spChg chg="mod">
          <ac:chgData name="jack yu" userId="2a45ba8d50c0f72c" providerId="LiveId" clId="{B80342A3-E94B-4495-B5AA-B2FD1E483B9B}" dt="2026-07-18T16:25:10.233" v="445" actId="2711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jack yu" userId="2a45ba8d50c0f72c" providerId="LiveId" clId="{B80342A3-E94B-4495-B5AA-B2FD1E483B9B}" dt="2026-07-18T16:13:40.933" v="143" actId="478"/>
          <ac:spMkLst>
            <pc:docMk/>
            <pc:sldMk cId="0" sldId="259"/>
            <ac:spMk id="6" creationId="{00000000-0000-0000-0000-000000000000}"/>
          </ac:spMkLst>
        </pc:spChg>
        <pc:graphicFrameChg chg="del mod modGraphic">
          <ac:chgData name="jack yu" userId="2a45ba8d50c0f72c" providerId="LiveId" clId="{B80342A3-E94B-4495-B5AA-B2FD1E483B9B}" dt="2026-07-18T16:13:24.329" v="138" actId="478"/>
          <ac:graphicFrameMkLst>
            <pc:docMk/>
            <pc:sldMk cId="0" sldId="259"/>
            <ac:graphicFrameMk id="5" creationId="{00000000-0000-0000-0000-000000000000}"/>
          </ac:graphicFrameMkLst>
        </pc:graphicFrameChg>
        <pc:picChg chg="mod">
          <ac:chgData name="jack yu" userId="2a45ba8d50c0f72c" providerId="LiveId" clId="{B80342A3-E94B-4495-B5AA-B2FD1E483B9B}" dt="2026-07-18T16:20:08.808" v="213" actId="208"/>
          <ac:picMkLst>
            <pc:docMk/>
            <pc:sldMk cId="0" sldId="259"/>
            <ac:picMk id="4" creationId="{00000000-0000-0000-0000-000000000000}"/>
          </ac:picMkLst>
        </pc:picChg>
      </pc:sldChg>
      <pc:sldChg chg="delSp modSp mod">
        <pc:chgData name="jack yu" userId="2a45ba8d50c0f72c" providerId="LiveId" clId="{B80342A3-E94B-4495-B5AA-B2FD1E483B9B}" dt="2026-07-18T16:14:26.355" v="155" actId="1076"/>
        <pc:sldMkLst>
          <pc:docMk/>
          <pc:sldMk cId="0" sldId="260"/>
        </pc:sldMkLst>
        <pc:spChg chg="del mod">
          <ac:chgData name="jack yu" userId="2a45ba8d50c0f72c" providerId="LiveId" clId="{B80342A3-E94B-4495-B5AA-B2FD1E483B9B}" dt="2026-07-18T16:14:04.673" v="149" actId="478"/>
          <ac:spMkLst>
            <pc:docMk/>
            <pc:sldMk cId="0" sldId="260"/>
            <ac:spMk id="5" creationId="{00000000-0000-0000-0000-000000000000}"/>
          </ac:spMkLst>
        </pc:spChg>
        <pc:picChg chg="mod">
          <ac:chgData name="jack yu" userId="2a45ba8d50c0f72c" providerId="LiveId" clId="{B80342A3-E94B-4495-B5AA-B2FD1E483B9B}" dt="2026-07-18T16:14:26.355" v="155" actId="1076"/>
          <ac:picMkLst>
            <pc:docMk/>
            <pc:sldMk cId="0" sldId="260"/>
            <ac:picMk id="4" creationId="{00000000-0000-0000-0000-000000000000}"/>
          </ac:picMkLst>
        </pc:picChg>
      </pc:sldChg>
      <pc:sldChg chg="modSp mod">
        <pc:chgData name="jack yu" userId="2a45ba8d50c0f72c" providerId="LiveId" clId="{B80342A3-E94B-4495-B5AA-B2FD1E483B9B}" dt="2026-07-18T16:15:03.381" v="162" actId="20577"/>
        <pc:sldMkLst>
          <pc:docMk/>
          <pc:sldMk cId="0" sldId="261"/>
        </pc:sldMkLst>
        <pc:spChg chg="mod">
          <ac:chgData name="jack yu" userId="2a45ba8d50c0f72c" providerId="LiveId" clId="{B80342A3-E94B-4495-B5AA-B2FD1E483B9B}" dt="2026-07-18T16:15:03.381" v="162" actId="20577"/>
          <ac:spMkLst>
            <pc:docMk/>
            <pc:sldMk cId="0" sldId="261"/>
            <ac:spMk id="8" creationId="{00000000-0000-0000-0000-000000000000}"/>
          </ac:spMkLst>
        </pc:spChg>
        <pc:graphicFrameChg chg="modGraphic">
          <ac:chgData name="jack yu" userId="2a45ba8d50c0f72c" providerId="LiveId" clId="{B80342A3-E94B-4495-B5AA-B2FD1E483B9B}" dt="2026-07-18T16:14:44.496" v="159" actId="20577"/>
          <ac:graphicFrameMkLst>
            <pc:docMk/>
            <pc:sldMk cId="0" sldId="261"/>
            <ac:graphicFrameMk id="5" creationId="{00000000-0000-0000-0000-000000000000}"/>
          </ac:graphicFrameMkLst>
        </pc:graphicFrameChg>
      </pc:sldChg>
      <pc:sldChg chg="modSp mod">
        <pc:chgData name="jack yu" userId="2a45ba8d50c0f72c" providerId="LiveId" clId="{B80342A3-E94B-4495-B5AA-B2FD1E483B9B}" dt="2026-07-18T16:16:02.843" v="204" actId="2711"/>
        <pc:sldMkLst>
          <pc:docMk/>
          <pc:sldMk cId="0" sldId="262"/>
        </pc:sldMkLst>
        <pc:spChg chg="mod">
          <ac:chgData name="jack yu" userId="2a45ba8d50c0f72c" providerId="LiveId" clId="{B80342A3-E94B-4495-B5AA-B2FD1E483B9B}" dt="2026-07-18T16:15:27.495" v="185" actId="113"/>
          <ac:spMkLst>
            <pc:docMk/>
            <pc:sldMk cId="0" sldId="262"/>
            <ac:spMk id="2" creationId="{00000000-0000-0000-0000-000000000000}"/>
          </ac:spMkLst>
        </pc:spChg>
        <pc:graphicFrameChg chg="modGraphic">
          <ac:chgData name="jack yu" userId="2a45ba8d50c0f72c" providerId="LiveId" clId="{B80342A3-E94B-4495-B5AA-B2FD1E483B9B}" dt="2026-07-18T16:16:02.843" v="204" actId="2711"/>
          <ac:graphicFrameMkLst>
            <pc:docMk/>
            <pc:sldMk cId="0" sldId="262"/>
            <ac:graphicFrameMk id="4" creationId="{00000000-0000-0000-0000-000000000000}"/>
          </ac:graphicFrameMkLst>
        </pc:graphicFrameChg>
      </pc:sldChg>
      <pc:sldChg chg="add">
        <pc:chgData name="jack yu" userId="2a45ba8d50c0f72c" providerId="LiveId" clId="{B80342A3-E94B-4495-B5AA-B2FD1E483B9B}" dt="2026-07-18T16:06:34.159" v="3"/>
        <pc:sldMkLst>
          <pc:docMk/>
          <pc:sldMk cId="3121534870" sldId="263"/>
        </pc:sldMkLst>
      </pc:sldChg>
      <pc:sldChg chg="addSp delSp modSp add mod">
        <pc:chgData name="jack yu" userId="2a45ba8d50c0f72c" providerId="LiveId" clId="{B80342A3-E94B-4495-B5AA-B2FD1E483B9B}" dt="2026-07-18T16:24:54.174" v="433" actId="20577"/>
        <pc:sldMkLst>
          <pc:docMk/>
          <pc:sldMk cId="1223802479" sldId="264"/>
        </pc:sldMkLst>
        <pc:spChg chg="add mod">
          <ac:chgData name="jack yu" userId="2a45ba8d50c0f72c" providerId="LiveId" clId="{B80342A3-E94B-4495-B5AA-B2FD1E483B9B}" dt="2026-07-18T16:24:54.174" v="433" actId="20577"/>
          <ac:spMkLst>
            <pc:docMk/>
            <pc:sldMk cId="1223802479" sldId="264"/>
            <ac:spMk id="4" creationId="{5C652CEB-EA34-1C64-1AA8-428A27DD95D8}"/>
          </ac:spMkLst>
        </pc:spChg>
        <pc:spChg chg="add del mod">
          <ac:chgData name="jack yu" userId="2a45ba8d50c0f72c" providerId="LiveId" clId="{B80342A3-E94B-4495-B5AA-B2FD1E483B9B}" dt="2026-07-18T16:22:47.561" v="315" actId="22"/>
          <ac:spMkLst>
            <pc:docMk/>
            <pc:sldMk cId="1223802479" sldId="264"/>
            <ac:spMk id="9" creationId="{1DB1BEBB-C808-13F2-6B47-7492E9F37478}"/>
          </ac:spMkLst>
        </pc:spChg>
        <pc:spChg chg="add del mod">
          <ac:chgData name="jack yu" userId="2a45ba8d50c0f72c" providerId="LiveId" clId="{B80342A3-E94B-4495-B5AA-B2FD1E483B9B}" dt="2026-07-18T16:23:07.430" v="323" actId="478"/>
          <ac:spMkLst>
            <pc:docMk/>
            <pc:sldMk cId="1223802479" sldId="264"/>
            <ac:spMk id="12" creationId="{F7D26B2C-1AAB-238F-FA08-15EC07E3707E}"/>
          </ac:spMkLst>
        </pc:spChg>
        <pc:spChg chg="add del">
          <ac:chgData name="jack yu" userId="2a45ba8d50c0f72c" providerId="LiveId" clId="{B80342A3-E94B-4495-B5AA-B2FD1E483B9B}" dt="2026-07-18T16:24:08.659" v="358" actId="22"/>
          <ac:spMkLst>
            <pc:docMk/>
            <pc:sldMk cId="1223802479" sldId="264"/>
            <ac:spMk id="14" creationId="{987B58C3-EB26-8CCE-708D-7CF9763778D9}"/>
          </ac:spMkLst>
        </pc:spChg>
        <pc:spChg chg="add mod">
          <ac:chgData name="jack yu" userId="2a45ba8d50c0f72c" providerId="LiveId" clId="{B80342A3-E94B-4495-B5AA-B2FD1E483B9B}" dt="2026-07-18T16:24:50.503" v="432" actId="20577"/>
          <ac:spMkLst>
            <pc:docMk/>
            <pc:sldMk cId="1223802479" sldId="264"/>
            <ac:spMk id="18" creationId="{013FFE90-FDF3-2889-1A16-0EDA77CD8741}"/>
          </ac:spMkLst>
        </pc:spChg>
      </pc:sldChg>
      <pc:sldChg chg="add del">
        <pc:chgData name="jack yu" userId="2a45ba8d50c0f72c" providerId="LiveId" clId="{B80342A3-E94B-4495-B5AA-B2FD1E483B9B}" dt="2026-07-18T16:21:22.042" v="224"/>
        <pc:sldMkLst>
          <pc:docMk/>
          <pc:sldMk cId="1116980160" sldId="265"/>
        </pc:sldMkLst>
      </pc:sldChg>
      <pc:sldChg chg="add del">
        <pc:chgData name="jack yu" userId="2a45ba8d50c0f72c" providerId="LiveId" clId="{B80342A3-E94B-4495-B5AA-B2FD1E483B9B}" dt="2026-07-18T16:21:12.680" v="222"/>
        <pc:sldMkLst>
          <pc:docMk/>
          <pc:sldMk cId="1832941695" sldId="265"/>
        </pc:sldMkLst>
      </pc:sldChg>
      <pc:sldChg chg="add del">
        <pc:chgData name="jack yu" userId="2a45ba8d50c0f72c" providerId="LiveId" clId="{B80342A3-E94B-4495-B5AA-B2FD1E483B9B}" dt="2026-07-18T16:21:04.747" v="218"/>
        <pc:sldMkLst>
          <pc:docMk/>
          <pc:sldMk cId="3439647379" sldId="265"/>
        </pc:sldMkLst>
      </pc:sldChg>
      <pc:sldChg chg="add del">
        <pc:chgData name="jack yu" userId="2a45ba8d50c0f72c" providerId="LiveId" clId="{B80342A3-E94B-4495-B5AA-B2FD1E483B9B}" dt="2026-07-18T16:21:08.517" v="220"/>
        <pc:sldMkLst>
          <pc:docMk/>
          <pc:sldMk cId="4048194722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F8CC6-8943-43DA-A8A4-E02E6CE1D71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CD410-E6F5-492B-A718-73DD244A0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96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CD410-E6F5-492B-A718-73DD244A0D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52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04231A2-8555-DBC4-EC87-495D1A5708AE}"/>
              </a:ext>
            </a:extLst>
          </p:cNvPr>
          <p:cNvGraphicFramePr>
            <a:graphicFrameLocks noGrp="1"/>
          </p:cNvGraphicFramePr>
          <p:nvPr/>
        </p:nvGraphicFramePr>
        <p:xfrm>
          <a:off x="1393224" y="1655420"/>
          <a:ext cx="8566321" cy="305250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42749">
                  <a:extLst>
                    <a:ext uri="{9D8B030D-6E8A-4147-A177-3AD203B41FA5}">
                      <a16:colId xmlns:a16="http://schemas.microsoft.com/office/drawing/2014/main" val="3041643311"/>
                    </a:ext>
                  </a:extLst>
                </a:gridCol>
                <a:gridCol w="2094373">
                  <a:extLst>
                    <a:ext uri="{9D8B030D-6E8A-4147-A177-3AD203B41FA5}">
                      <a16:colId xmlns:a16="http://schemas.microsoft.com/office/drawing/2014/main" val="629140475"/>
                    </a:ext>
                  </a:extLst>
                </a:gridCol>
                <a:gridCol w="2331886">
                  <a:extLst>
                    <a:ext uri="{9D8B030D-6E8A-4147-A177-3AD203B41FA5}">
                      <a16:colId xmlns:a16="http://schemas.microsoft.com/office/drawing/2014/main" val="1486027801"/>
                    </a:ext>
                  </a:extLst>
                </a:gridCol>
                <a:gridCol w="2697313">
                  <a:extLst>
                    <a:ext uri="{9D8B030D-6E8A-4147-A177-3AD203B41FA5}">
                      <a16:colId xmlns:a16="http://schemas.microsoft.com/office/drawing/2014/main" val="2872870688"/>
                    </a:ext>
                  </a:extLst>
                </a:gridCol>
              </a:tblGrid>
              <a:tr h="6037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一、實驗參數</a:t>
                      </a:r>
                      <a:endParaRPr 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2780036"/>
                  </a:ext>
                </a:extLst>
              </a:tr>
              <a:tr h="307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類別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參數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設定值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備註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68448111"/>
                  </a:ext>
                </a:extLst>
              </a:tr>
              <a:tr h="6037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固定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氣體比例（H2:CO2）</a:t>
                      </a:r>
                      <a:endParaRPr 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反應計量比 CO2+4H2→CH4+2H2O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56816682"/>
                  </a:ext>
                </a:extLst>
              </a:tr>
              <a:tr h="307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固定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進氣至壓力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 kg/cm²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低於下限自動進氣至此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786108"/>
                  </a:ext>
                </a:extLst>
              </a:tr>
              <a:tr h="3184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固定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排氣至壓力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1.0 kg/cm²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排氣終點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98258962"/>
                  </a:ext>
                </a:extLst>
              </a:tr>
              <a:tr h="3076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固定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溫度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 °C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全程記錄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58964253"/>
                  </a:ext>
                </a:extLst>
              </a:tr>
              <a:tr h="6037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控制因子</a:t>
                      </a:r>
                      <a:endParaRPr 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循環時間（每時幾分）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 / 5 / 10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本實驗變動的參數</a:t>
                      </a:r>
                      <a:endParaRPr 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986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50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5738A3C-D581-4501-AE9B-6861317C79A4}"/>
              </a:ext>
            </a:extLst>
          </p:cNvPr>
          <p:cNvGraphicFramePr>
            <a:graphicFrameLocks noGrp="1"/>
          </p:cNvGraphicFramePr>
          <p:nvPr/>
        </p:nvGraphicFramePr>
        <p:xfrm>
          <a:off x="201828" y="982361"/>
          <a:ext cx="11788344" cy="449786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66231">
                  <a:extLst>
                    <a:ext uri="{9D8B030D-6E8A-4147-A177-3AD203B41FA5}">
                      <a16:colId xmlns:a16="http://schemas.microsoft.com/office/drawing/2014/main" val="2951052340"/>
                    </a:ext>
                  </a:extLst>
                </a:gridCol>
                <a:gridCol w="1517414">
                  <a:extLst>
                    <a:ext uri="{9D8B030D-6E8A-4147-A177-3AD203B41FA5}">
                      <a16:colId xmlns:a16="http://schemas.microsoft.com/office/drawing/2014/main" val="1385038754"/>
                    </a:ext>
                  </a:extLst>
                </a:gridCol>
                <a:gridCol w="2367303">
                  <a:extLst>
                    <a:ext uri="{9D8B030D-6E8A-4147-A177-3AD203B41FA5}">
                      <a16:colId xmlns:a16="http://schemas.microsoft.com/office/drawing/2014/main" val="2035123845"/>
                    </a:ext>
                  </a:extLst>
                </a:gridCol>
                <a:gridCol w="2367303">
                  <a:extLst>
                    <a:ext uri="{9D8B030D-6E8A-4147-A177-3AD203B41FA5}">
                      <a16:colId xmlns:a16="http://schemas.microsoft.com/office/drawing/2014/main" val="1094660785"/>
                    </a:ext>
                  </a:extLst>
                </a:gridCol>
                <a:gridCol w="867094">
                  <a:extLst>
                    <a:ext uri="{9D8B030D-6E8A-4147-A177-3AD203B41FA5}">
                      <a16:colId xmlns:a16="http://schemas.microsoft.com/office/drawing/2014/main" val="736308658"/>
                    </a:ext>
                  </a:extLst>
                </a:gridCol>
                <a:gridCol w="650321">
                  <a:extLst>
                    <a:ext uri="{9D8B030D-6E8A-4147-A177-3AD203B41FA5}">
                      <a16:colId xmlns:a16="http://schemas.microsoft.com/office/drawing/2014/main" val="2043079292"/>
                    </a:ext>
                  </a:extLst>
                </a:gridCol>
                <a:gridCol w="729460">
                  <a:extLst>
                    <a:ext uri="{9D8B030D-6E8A-4147-A177-3AD203B41FA5}">
                      <a16:colId xmlns:a16="http://schemas.microsoft.com/office/drawing/2014/main" val="4235901141"/>
                    </a:ext>
                  </a:extLst>
                </a:gridCol>
                <a:gridCol w="578062">
                  <a:extLst>
                    <a:ext uri="{9D8B030D-6E8A-4147-A177-3AD203B41FA5}">
                      <a16:colId xmlns:a16="http://schemas.microsoft.com/office/drawing/2014/main" val="4125979188"/>
                    </a:ext>
                  </a:extLst>
                </a:gridCol>
                <a:gridCol w="578062">
                  <a:extLst>
                    <a:ext uri="{9D8B030D-6E8A-4147-A177-3AD203B41FA5}">
                      <a16:colId xmlns:a16="http://schemas.microsoft.com/office/drawing/2014/main" val="1387350753"/>
                    </a:ext>
                  </a:extLst>
                </a:gridCol>
                <a:gridCol w="867094">
                  <a:extLst>
                    <a:ext uri="{9D8B030D-6E8A-4147-A177-3AD203B41FA5}">
                      <a16:colId xmlns:a16="http://schemas.microsoft.com/office/drawing/2014/main" val="3633173611"/>
                    </a:ext>
                  </a:extLst>
                </a:gridCol>
              </a:tblGrid>
              <a:tr h="5931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二、批次排程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b"/>
                </a:tc>
                <a:extLst>
                  <a:ext uri="{0D108BD9-81ED-4DB2-BD59-A6C34878D82A}">
                    <a16:rowId xmlns:a16="http://schemas.microsoft.com/office/drawing/2014/main" val="3993126861"/>
                  </a:ext>
                </a:extLst>
              </a:tr>
              <a:tr h="302057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設定條件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量測結果（排氣時填寫）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650668"/>
                  </a:ext>
                </a:extLst>
              </a:tr>
              <a:tr h="8841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批次</a:t>
                      </a:r>
                      <a:b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實驗</a:t>
                      </a:r>
                      <a:endParaRPr 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氣體比例</a:t>
                      </a:r>
                      <a:b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(H2:CO2)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進氣至壓力</a:t>
                      </a:r>
                      <a:b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(kg/cm²)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循環時間</a:t>
                      </a:r>
                      <a:b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(每時幾分)</a:t>
                      </a:r>
                      <a:endParaRPr 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排氣至壓力</a:t>
                      </a:r>
                      <a:b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(kg/cm²)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總時間</a:t>
                      </a:r>
                      <a:b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(hrs)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下降壓力</a:t>
                      </a:r>
                      <a:b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速率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pH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ORP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CH4%</a:t>
                      </a:r>
                      <a:b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(排氣峰值)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1586536021"/>
                  </a:ext>
                </a:extLst>
              </a:tr>
              <a:tr h="302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955308456"/>
                  </a:ext>
                </a:extLst>
              </a:tr>
              <a:tr h="302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846413931"/>
                  </a:ext>
                </a:extLst>
              </a:tr>
              <a:tr h="302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1.3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1110486036"/>
                  </a:ext>
                </a:extLst>
              </a:tr>
              <a:tr h="302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139437243"/>
                  </a:ext>
                </a:extLst>
              </a:tr>
              <a:tr h="302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3830438507"/>
                  </a:ext>
                </a:extLst>
              </a:tr>
              <a:tr h="302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2.3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1006436758"/>
                  </a:ext>
                </a:extLst>
              </a:tr>
              <a:tr h="302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1036774317"/>
                  </a:ext>
                </a:extLst>
              </a:tr>
              <a:tr h="302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881394099"/>
                  </a:ext>
                </a:extLst>
              </a:tr>
              <a:tr h="3020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3.3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: 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1.2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 分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1600" b="1" u="none" strike="noStrike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  <a:endParaRPr 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213" marR="9213" marT="9213" marB="0" anchor="ctr"/>
                </a:tc>
                <a:extLst>
                  <a:ext uri="{0D108BD9-81ED-4DB2-BD59-A6C34878D82A}">
                    <a16:rowId xmlns:a16="http://schemas.microsoft.com/office/drawing/2014/main" val="4102739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534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C1908-1B67-63F7-6F12-D4EC89481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3DC408BC-CE34-2D14-411F-D39BE2BDB3DF}"/>
              </a:ext>
            </a:extLst>
          </p:cNvPr>
          <p:cNvCxnSpPr>
            <a:cxnSpLocks/>
          </p:cNvCxnSpPr>
          <p:nvPr/>
        </p:nvCxnSpPr>
        <p:spPr>
          <a:xfrm flipV="1">
            <a:off x="3015049" y="1940009"/>
            <a:ext cx="2520000" cy="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3C28BE54-4D9F-20A8-9A70-3D7EF6382371}"/>
              </a:ext>
            </a:extLst>
          </p:cNvPr>
          <p:cNvSpPr txBox="1"/>
          <p:nvPr/>
        </p:nvSpPr>
        <p:spPr>
          <a:xfrm>
            <a:off x="1217441" y="1616844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反應槽內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最高壓力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C9D550-D78E-A96A-9286-67FA84AD2ECA}"/>
              </a:ext>
            </a:extLst>
          </p:cNvPr>
          <p:cNvSpPr txBox="1"/>
          <p:nvPr/>
        </p:nvSpPr>
        <p:spPr>
          <a:xfrm>
            <a:off x="2269332" y="1739954"/>
            <a:ext cx="7585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1.2kg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B2AD8CAC-6DCB-7882-4D34-2241CB290160}"/>
              </a:ext>
            </a:extLst>
          </p:cNvPr>
          <p:cNvCxnSpPr>
            <a:cxnSpLocks/>
          </p:cNvCxnSpPr>
          <p:nvPr/>
        </p:nvCxnSpPr>
        <p:spPr>
          <a:xfrm flipV="1">
            <a:off x="2951109" y="1974334"/>
            <a:ext cx="362280" cy="577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8D5C46A-EAFF-25F6-8C00-515EACAA18ED}"/>
              </a:ext>
            </a:extLst>
          </p:cNvPr>
          <p:cNvCxnSpPr>
            <a:cxnSpLocks/>
          </p:cNvCxnSpPr>
          <p:nvPr/>
        </p:nvCxnSpPr>
        <p:spPr>
          <a:xfrm>
            <a:off x="3015048" y="3575221"/>
            <a:ext cx="25200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E897A4F-95C0-0494-77CF-2E362DBFA359}"/>
              </a:ext>
            </a:extLst>
          </p:cNvPr>
          <p:cNvSpPr txBox="1"/>
          <p:nvPr/>
        </p:nvSpPr>
        <p:spPr>
          <a:xfrm>
            <a:off x="1248022" y="340594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排氣壓力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454EE46-8D21-C8C0-C76C-A584BE113A74}"/>
              </a:ext>
            </a:extLst>
          </p:cNvPr>
          <p:cNvSpPr txBox="1"/>
          <p:nvPr/>
        </p:nvSpPr>
        <p:spPr>
          <a:xfrm>
            <a:off x="2341647" y="3375166"/>
            <a:ext cx="617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FF0000"/>
                </a:solidFill>
              </a:rPr>
              <a:t>1</a:t>
            </a:r>
            <a:r>
              <a:rPr lang="zh-TW" altLang="en-US" sz="2000" b="1" dirty="0">
                <a:solidFill>
                  <a:srgbClr val="FF0000"/>
                </a:solidFill>
              </a:rPr>
              <a:t> </a:t>
            </a:r>
            <a:r>
              <a:rPr lang="en-US" altLang="zh-TW" sz="2000" b="1" dirty="0">
                <a:solidFill>
                  <a:srgbClr val="FF0000"/>
                </a:solidFill>
              </a:rPr>
              <a:t>kg</a:t>
            </a:r>
            <a:endParaRPr lang="zh-TW" altLang="en-US" sz="2000" b="1" dirty="0">
              <a:solidFill>
                <a:srgbClr val="FF000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6DB2576-1C32-5664-94D2-AA36308DC89B}"/>
              </a:ext>
            </a:extLst>
          </p:cNvPr>
          <p:cNvSpPr txBox="1"/>
          <p:nvPr/>
        </p:nvSpPr>
        <p:spPr>
          <a:xfrm>
            <a:off x="2341647" y="250961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開始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A2DE948-280D-DC93-16CB-BEB434EA7801}"/>
              </a:ext>
            </a:extLst>
          </p:cNvPr>
          <p:cNvCxnSpPr>
            <a:cxnSpLocks/>
          </p:cNvCxnSpPr>
          <p:nvPr/>
        </p:nvCxnSpPr>
        <p:spPr>
          <a:xfrm>
            <a:off x="3313389" y="1974334"/>
            <a:ext cx="838481" cy="1121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F617FD8-0E49-4246-9700-F8522B298C38}"/>
              </a:ext>
            </a:extLst>
          </p:cNvPr>
          <p:cNvSpPr txBox="1"/>
          <p:nvPr/>
        </p:nvSpPr>
        <p:spPr>
          <a:xfrm>
            <a:off x="3732629" y="2276961"/>
            <a:ext cx="10123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b="1" u="none" strike="noStrike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循環時間</a:t>
            </a:r>
            <a:endParaRPr lang="zh-TW" altLang="en-US" dirty="0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04DAC6CF-6438-237E-95B1-899F215B0377}"/>
              </a:ext>
            </a:extLst>
          </p:cNvPr>
          <p:cNvCxnSpPr>
            <a:cxnSpLocks/>
          </p:cNvCxnSpPr>
          <p:nvPr/>
        </p:nvCxnSpPr>
        <p:spPr>
          <a:xfrm flipV="1">
            <a:off x="3599936" y="3144392"/>
            <a:ext cx="1008000" cy="1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9624DF50-1F76-FB46-CFA7-78E56D863AF8}"/>
              </a:ext>
            </a:extLst>
          </p:cNvPr>
          <p:cNvCxnSpPr>
            <a:cxnSpLocks/>
          </p:cNvCxnSpPr>
          <p:nvPr/>
        </p:nvCxnSpPr>
        <p:spPr>
          <a:xfrm>
            <a:off x="4153363" y="3144392"/>
            <a:ext cx="0" cy="430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AB6CEF7D-F7E1-1A8F-3F24-32580C346499}"/>
              </a:ext>
            </a:extLst>
          </p:cNvPr>
          <p:cNvCxnSpPr>
            <a:cxnSpLocks/>
          </p:cNvCxnSpPr>
          <p:nvPr/>
        </p:nvCxnSpPr>
        <p:spPr>
          <a:xfrm>
            <a:off x="3313389" y="1616844"/>
            <a:ext cx="828000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964B003F-0EBA-92AE-2DEC-49B97139A77C}"/>
              </a:ext>
            </a:extLst>
          </p:cNvPr>
          <p:cNvSpPr txBox="1"/>
          <p:nvPr/>
        </p:nvSpPr>
        <p:spPr>
          <a:xfrm>
            <a:off x="3254246" y="1186016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總時間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E800F244-E4E7-C7A1-9349-E5323E2C165E}"/>
              </a:ext>
            </a:extLst>
          </p:cNvPr>
          <p:cNvCxnSpPr>
            <a:cxnSpLocks/>
          </p:cNvCxnSpPr>
          <p:nvPr/>
        </p:nvCxnSpPr>
        <p:spPr>
          <a:xfrm flipV="1">
            <a:off x="2648602" y="3917092"/>
            <a:ext cx="0" cy="679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B11055D4-F602-FD48-ACFC-1CE08FD7A527}"/>
              </a:ext>
            </a:extLst>
          </p:cNvPr>
          <p:cNvSpPr txBox="1"/>
          <p:nvPr/>
        </p:nvSpPr>
        <p:spPr>
          <a:xfrm>
            <a:off x="1730093" y="4610268"/>
            <a:ext cx="20164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現況這個排氣到的壓力數值很接近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1.2kg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，是否要設定更低一點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D1091C1F-4830-883B-27D4-05EA0086F44A}"/>
              </a:ext>
            </a:extLst>
          </p:cNvPr>
          <p:cNvSpPr txBox="1"/>
          <p:nvPr/>
        </p:nvSpPr>
        <p:spPr>
          <a:xfrm>
            <a:off x="0" y="9344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討論問題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652CEB-EA34-1C64-1AA8-428A27DD95D8}"/>
              </a:ext>
            </a:extLst>
          </p:cNvPr>
          <p:cNvSpPr txBox="1"/>
          <p:nvPr/>
        </p:nvSpPr>
        <p:spPr>
          <a:xfrm>
            <a:off x="3945146" y="5210432"/>
            <a:ext cx="615350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TW" altLang="en-US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目前考慮以 </a:t>
            </a:r>
            <a:r>
              <a:rPr lang="en-US" altLang="zh-TW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0.9 kg</a:t>
            </a:r>
            <a:r>
              <a:rPr lang="zh-TW" altLang="en-US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是否較佳</a:t>
            </a:r>
            <a:r>
              <a:rPr lang="en-US" altLang="zh-TW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?</a:t>
            </a:r>
            <a:r>
              <a:rPr lang="zh-TW" altLang="en-US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TW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zh-TW" altLang="en-US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資料更多，但時間稍長</a:t>
            </a:r>
            <a:r>
              <a:rPr lang="en-US" altLang="zh-TW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sz="2000" b="1" dirty="0">
              <a:solidFill>
                <a:srgbClr val="00B05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3FFE90-FDF3-2889-1A16-0EDA77CD8741}"/>
              </a:ext>
            </a:extLst>
          </p:cNvPr>
          <p:cNvSpPr txBox="1"/>
          <p:nvPr/>
        </p:nvSpPr>
        <p:spPr>
          <a:xfrm>
            <a:off x="4494361" y="1165192"/>
            <a:ext cx="615350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TW" altLang="en-US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以歷史下降速率換算是否可行</a:t>
            </a:r>
            <a:r>
              <a:rPr lang="en-US" altLang="zh-TW" sz="2000" b="1" dirty="0">
                <a:solidFill>
                  <a:srgbClr val="00B05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?</a:t>
            </a:r>
            <a:endParaRPr sz="2000" b="1" dirty="0">
              <a:solidFill>
                <a:srgbClr val="00B05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3802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微軟正黑體"/>
              </a:rPr>
              <a:t>實驗流程與要決定的參數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286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微軟正黑體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2286000" cy="109728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進氣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微軟正黑體"/>
              </a:rPr>
              <a:t>至 1.2 kg/cm²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96596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52514E"/>
                </a:solidFill>
                <a:latin typeface="微軟正黑體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645920"/>
            <a:ext cx="2286000" cy="109728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循環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微軟正黑體"/>
              </a:rPr>
              <a:t>每時 n 分鐘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196596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52514E"/>
                </a:solidFill>
                <a:latin typeface="微軟正黑體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2286000" cy="109728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排氣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微軟正黑體"/>
              </a:rPr>
              <a:t>至目標壓力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96596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52514E"/>
                </a:solidFill>
                <a:latin typeface="微軟正黑體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645920"/>
            <a:ext cx="2286000" cy="1097280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軟正黑體"/>
              </a:rPr>
              <a:t>重複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0B0B"/>
                </a:solidFill>
                <a:latin typeface="微軟正黑體"/>
              </a:rPr>
              <a:t>本次要決定兩個參數：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364686"/>
              </p:ext>
            </p:extLst>
          </p:nvPr>
        </p:nvGraphicFramePr>
        <p:xfrm>
          <a:off x="914400" y="3931920"/>
          <a:ext cx="10332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參數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微軟正黑體"/>
                        </a:rPr>
                        <a:t>問題</a:t>
                      </a:r>
                      <a:endParaRPr sz="1500" b="1" dirty="0">
                        <a:solidFill>
                          <a:srgbClr val="FFFFFF"/>
                        </a:solidFill>
                        <a:latin typeface="微軟正黑體"/>
                      </a:endParaRP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zh-TW" altLang="en-US" sz="1500" b="1" kern="1200" dirty="0">
                          <a:solidFill>
                            <a:srgbClr val="FFFFFF"/>
                          </a:solidFill>
                          <a:latin typeface="微軟正黑體"/>
                          <a:ea typeface="+mn-ea"/>
                          <a:cs typeface="+mn-cs"/>
                        </a:rPr>
                        <a:t>嘗試作法</a:t>
                      </a:r>
                      <a:endParaRPr sz="1500" b="1" kern="1200" dirty="0">
                        <a:solidFill>
                          <a:srgbClr val="FFFFFF"/>
                        </a:solidFill>
                        <a:latin typeface="微軟正黑體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① 循環總時間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壓力從 1.2 掉到排氣目標要多久？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用歷史壓力下降速率換算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② 排氣目標壓力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0B0B0B"/>
                          </a:solidFill>
                          <a:latin typeface="微軟正黑體"/>
                        </a:rPr>
                        <a:t>現想設</a:t>
                      </a:r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 1.0，但很接近 1.2，窗口會不會太窄？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0" kern="1200" dirty="0">
                          <a:solidFill>
                            <a:srgbClr val="0B0B0B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計</a:t>
                      </a:r>
                      <a:r>
                        <a:rPr sz="1400" b="0" kern="1200" dirty="0" err="1">
                          <a:solidFill>
                            <a:srgbClr val="0B0B0B"/>
                          </a:solidFill>
                          <a:latin typeface="微軟正黑體"/>
                          <a:ea typeface="+mn-ea"/>
                          <a:cs typeface="+mn-cs"/>
                        </a:rPr>
                        <a:t>算訊號窗口</a:t>
                      </a:r>
                      <a:r>
                        <a:rPr lang="zh-TW" altLang="en-US" sz="1400" b="0" kern="1200" dirty="0">
                          <a:solidFill>
                            <a:srgbClr val="0B0B0B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及</a:t>
                      </a:r>
                      <a:r>
                        <a:rPr sz="1400" b="0" kern="1200" dirty="0" err="1">
                          <a:solidFill>
                            <a:srgbClr val="0B0B0B"/>
                          </a:solidFill>
                          <a:latin typeface="微軟正黑體"/>
                          <a:ea typeface="+mn-ea"/>
                          <a:cs typeface="+mn-cs"/>
                        </a:rPr>
                        <a:t>時間</a:t>
                      </a:r>
                      <a:endParaRPr sz="1400" b="0" kern="1200" dirty="0">
                        <a:solidFill>
                          <a:srgbClr val="0B0B0B"/>
                        </a:solidFill>
                        <a:latin typeface="微軟正黑體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r>
              <a:rPr sz="2600" b="1" dirty="0">
                <a:solidFill>
                  <a:srgbClr val="FFFFFF"/>
                </a:solidFill>
                <a:latin typeface="微軟正黑體"/>
              </a:rPr>
              <a:t>① </a:t>
            </a:r>
            <a:r>
              <a:rPr sz="2600" b="1" dirty="0" err="1">
                <a:solidFill>
                  <a:srgbClr val="FFFFFF"/>
                </a:solidFill>
                <a:latin typeface="微軟正黑體"/>
              </a:rPr>
              <a:t>循環總時間：由壓力下降速率換算</a:t>
            </a:r>
            <a:endParaRPr sz="2600" b="1" dirty="0">
              <a:solidFill>
                <a:srgbClr val="FFFFFF"/>
              </a:solidFill>
              <a:latin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77295" y="2286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微軟正黑體"/>
              </a:rPr>
              <a:t>2</a:t>
            </a:r>
          </a:p>
        </p:txBody>
      </p:sp>
      <p:pic>
        <p:nvPicPr>
          <p:cNvPr id="4" name="Picture 3" descr="figD1_circulation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0" y="1401626"/>
            <a:ext cx="11382280" cy="495891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408662"/>
              </p:ext>
            </p:extLst>
          </p:nvPr>
        </p:nvGraphicFramePr>
        <p:xfrm>
          <a:off x="8995323" y="2124337"/>
          <a:ext cx="3013492" cy="1469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6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342"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微軟正黑體"/>
                        </a:rPr>
                        <a:t>排氣目標</a:t>
                      </a:r>
                      <a:endParaRPr sz="1500" b="1" dirty="0">
                        <a:solidFill>
                          <a:srgbClr val="FFFFFF"/>
                        </a:solidFill>
                        <a:latin typeface="微軟正黑體"/>
                      </a:endParaRP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微軟正黑體"/>
                        </a:rPr>
                        <a:t>循環時間</a:t>
                      </a:r>
                      <a:endParaRPr sz="1500" b="1" dirty="0">
                        <a:solidFill>
                          <a:srgbClr val="FFFFFF"/>
                        </a:solidFill>
                        <a:latin typeface="微軟正黑體"/>
                      </a:endParaRP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34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約 14 </a:t>
                      </a:r>
                      <a:r>
                        <a:rPr sz="1400" b="0" dirty="0" err="1">
                          <a:solidFill>
                            <a:srgbClr val="0B0B0B"/>
                          </a:solidFill>
                          <a:latin typeface="微軟正黑體"/>
                        </a:rPr>
                        <a:t>小時</a:t>
                      </a:r>
                      <a:endParaRPr sz="1400" b="0" dirty="0">
                        <a:solidFill>
                          <a:srgbClr val="0B0B0B"/>
                        </a:solidFill>
                        <a:latin typeface="微軟正黑體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34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0.9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約 20 </a:t>
                      </a:r>
                      <a:r>
                        <a:rPr sz="1400" b="0" dirty="0" err="1">
                          <a:solidFill>
                            <a:srgbClr val="0B0B0B"/>
                          </a:solidFill>
                          <a:latin typeface="微軟正黑體"/>
                        </a:rPr>
                        <a:t>小時</a:t>
                      </a:r>
                      <a:endParaRPr sz="1400" b="0" dirty="0">
                        <a:solidFill>
                          <a:srgbClr val="0B0B0B"/>
                        </a:solidFill>
                        <a:latin typeface="微軟正黑體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342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0.8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約 27 </a:t>
                      </a:r>
                      <a:r>
                        <a:rPr sz="1400" b="0" dirty="0" err="1">
                          <a:solidFill>
                            <a:srgbClr val="0B0B0B"/>
                          </a:solidFill>
                          <a:latin typeface="微軟正黑體"/>
                        </a:rPr>
                        <a:t>小時</a:t>
                      </a:r>
                      <a:endParaRPr sz="1400" b="0" dirty="0">
                        <a:solidFill>
                          <a:srgbClr val="0B0B0B"/>
                        </a:solidFill>
                        <a:latin typeface="微軟正黑體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833432" y="3837318"/>
            <a:ext cx="3358568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2514E"/>
                </a:solidFill>
                <a:latin typeface="微軟正黑體"/>
              </a:rPr>
              <a:t>• 實測速率中位數0.0146 kg/cm²/</a:t>
            </a:r>
            <a:r>
              <a:rPr sz="1400" b="0" dirty="0" err="1">
                <a:solidFill>
                  <a:srgbClr val="52514E"/>
                </a:solidFill>
                <a:latin typeface="微軟正黑體"/>
              </a:rPr>
              <a:t>hr</a:t>
            </a:r>
            <a:endParaRPr sz="1400" b="0" dirty="0">
              <a:solidFill>
                <a:srgbClr val="52514E"/>
              </a:solidFill>
              <a:latin typeface="微軟正黑體"/>
            </a:endParaRPr>
          </a:p>
          <a:p>
            <a:pPr algn="l"/>
            <a:endParaRPr sz="1400" b="0" dirty="0">
              <a:solidFill>
                <a:srgbClr val="52514E"/>
              </a:solidFill>
              <a:latin typeface="微軟正黑體"/>
            </a:endParaRPr>
          </a:p>
          <a:p>
            <a:pPr algn="l"/>
            <a:r>
              <a:rPr sz="1400" b="0" dirty="0">
                <a:solidFill>
                  <a:srgbClr val="52514E"/>
                </a:solidFill>
                <a:latin typeface="微軟正黑體"/>
              </a:rPr>
              <a:t>• </a:t>
            </a:r>
            <a:r>
              <a:rPr sz="1400" b="0" dirty="0" err="1">
                <a:solidFill>
                  <a:srgbClr val="52514E"/>
                </a:solidFill>
                <a:latin typeface="微軟正黑體"/>
              </a:rPr>
              <a:t>實際藍線與紅色參考線吻合，初期略快</a:t>
            </a:r>
            <a:endParaRPr sz="1400" b="0" dirty="0">
              <a:solidFill>
                <a:srgbClr val="52514E"/>
              </a:solidFill>
              <a:latin typeface="微軟正黑體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r>
              <a:rPr sz="2600" b="1" dirty="0">
                <a:solidFill>
                  <a:srgbClr val="FFFFFF"/>
                </a:solidFill>
                <a:latin typeface="微軟正黑體"/>
              </a:rPr>
              <a:t>② </a:t>
            </a:r>
            <a:r>
              <a:rPr sz="2600" b="1" dirty="0" err="1">
                <a:solidFill>
                  <a:srgbClr val="FFFFFF"/>
                </a:solidFill>
                <a:latin typeface="微軟正黑體"/>
              </a:rPr>
              <a:t>排氣目標壓力：訊號窗口</a:t>
            </a:r>
            <a:r>
              <a:rPr lang="zh-TW" altLang="en-US" sz="26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及</a:t>
            </a:r>
            <a:r>
              <a:rPr sz="2600" b="1" dirty="0" err="1">
                <a:solidFill>
                  <a:srgbClr val="FFFFFF"/>
                </a:solidFill>
                <a:latin typeface="微軟正黑體"/>
              </a:rPr>
              <a:t>時間</a:t>
            </a:r>
            <a:endParaRPr sz="2600" b="1" dirty="0">
              <a:solidFill>
                <a:srgbClr val="FFFFFF"/>
              </a:solidFill>
              <a:latin typeface="微軟正黑體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77295" y="2286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微軟正黑體"/>
              </a:rPr>
              <a:t>3</a:t>
            </a:r>
          </a:p>
        </p:txBody>
      </p:sp>
      <p:pic>
        <p:nvPicPr>
          <p:cNvPr id="4" name="Picture 3" descr="figD2_vent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68" y="1333496"/>
            <a:ext cx="11795185" cy="5237762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微軟正黑體"/>
              </a:rPr>
              <a:t>觀察：菌群狀態讓下降快慢變動（K-means）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286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微軟正黑體"/>
              </a:rPr>
              <a:t>4</a:t>
            </a:r>
          </a:p>
        </p:txBody>
      </p:sp>
      <p:pic>
        <p:nvPicPr>
          <p:cNvPr id="4" name="Picture 3" descr="figD3_kmeans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97" y="1268138"/>
            <a:ext cx="11599806" cy="52658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微軟正黑體"/>
              </a:rPr>
              <a:t>實驗參數（含氣體比例）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286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微軟正黑體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微軟正黑體"/>
              </a:rPr>
              <a:t>固定條件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793668"/>
              </p:ext>
            </p:extLst>
          </p:nvPr>
        </p:nvGraphicFramePr>
        <p:xfrm>
          <a:off x="548640" y="1554480"/>
          <a:ext cx="1106424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氣體比例(H2:CO2)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進氣至壓力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排氣至壓力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溫度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4 :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1.2 kg/cm²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0.9 kg/cm²（待定）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30 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834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0B0B"/>
                </a:solidFill>
                <a:latin typeface="微軟正黑體"/>
              </a:rPr>
              <a:t>控制因子（本次變動）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337560"/>
          <a:ext cx="1106424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控制因子</a:t>
                      </a:r>
                    </a:p>
                  </a:txBody>
                  <a:tcPr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水準</a:t>
                      </a:r>
                    </a:p>
                  </a:txBody>
                  <a:tcPr anchor="ctr">
                    <a:solidFill>
                      <a:srgbClr val="1BA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每水準重複</a:t>
                      </a:r>
                    </a:p>
                  </a:txBody>
                  <a:tcPr anchor="ctr">
                    <a:solidFill>
                      <a:srgbClr val="1BA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循環時間（每時幾分）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1 / 5 / 10 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3 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846320"/>
            <a:ext cx="1097280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52514E"/>
                </a:solidFill>
                <a:latin typeface="微軟正黑體"/>
              </a:rPr>
              <a:t>• 共 3 </a:t>
            </a:r>
            <a:r>
              <a:rPr sz="1500" b="0" dirty="0" err="1">
                <a:solidFill>
                  <a:srgbClr val="52514E"/>
                </a:solidFill>
                <a:latin typeface="微軟正黑體"/>
              </a:rPr>
              <a:t>水準</a:t>
            </a:r>
            <a:r>
              <a:rPr sz="1500" b="0" dirty="0">
                <a:solidFill>
                  <a:srgbClr val="52514E"/>
                </a:solidFill>
                <a:latin typeface="微軟正黑體"/>
              </a:rPr>
              <a:t> × 3 </a:t>
            </a:r>
            <a:r>
              <a:rPr sz="1500" b="0" dirty="0" err="1">
                <a:solidFill>
                  <a:srgbClr val="52514E"/>
                </a:solidFill>
                <a:latin typeface="微軟正黑體"/>
              </a:rPr>
              <a:t>重複</a:t>
            </a:r>
            <a:r>
              <a:rPr sz="1500" b="0" dirty="0">
                <a:solidFill>
                  <a:srgbClr val="52514E"/>
                </a:solidFill>
                <a:latin typeface="微軟正黑體"/>
              </a:rPr>
              <a:t> = 9 </a:t>
            </a:r>
            <a:r>
              <a:rPr sz="1500" b="0" dirty="0" err="1">
                <a:solidFill>
                  <a:srgbClr val="52514E"/>
                </a:solidFill>
                <a:latin typeface="微軟正黑體"/>
              </a:rPr>
              <a:t>批次（批次編號</a:t>
            </a:r>
            <a:r>
              <a:rPr sz="1500" b="0" dirty="0">
                <a:solidFill>
                  <a:srgbClr val="52514E"/>
                </a:solidFill>
                <a:latin typeface="微軟正黑體"/>
              </a:rPr>
              <a:t> 1.1 / 1.2 / 1.3 …）</a:t>
            </a:r>
          </a:p>
          <a:p>
            <a:pPr algn="l"/>
            <a:r>
              <a:rPr sz="1500" b="0" dirty="0">
                <a:solidFill>
                  <a:srgbClr val="52514E"/>
                </a:solidFill>
                <a:latin typeface="微軟正黑體"/>
              </a:rPr>
              <a:t>• 量測：排氣時的壓力、pH、ORP、CH4%</a:t>
            </a:r>
            <a:endParaRPr lang="en-US" sz="1500" b="0" dirty="0">
              <a:solidFill>
                <a:srgbClr val="52514E"/>
              </a:solidFill>
              <a:latin typeface="微軟正黑體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algn="ctr"/>
            <a:r>
              <a:rPr lang="zh-TW" altLang="en-US" sz="26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欲</a:t>
            </a:r>
            <a:r>
              <a:rPr sz="26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討論</a:t>
            </a:r>
            <a:r>
              <a:rPr lang="zh-TW" altLang="en-US" sz="2600" b="1" dirty="0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內容</a:t>
            </a:r>
            <a:endParaRPr sz="2600" b="1" dirty="0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77295" y="22860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微軟正黑體"/>
              </a:rP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53612"/>
              </p:ext>
            </p:extLst>
          </p:nvPr>
        </p:nvGraphicFramePr>
        <p:xfrm>
          <a:off x="731520" y="1463040"/>
          <a:ext cx="106984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#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事項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軟正黑體"/>
                        </a:rPr>
                        <a:t>初步建議</a:t>
                      </a:r>
                    </a:p>
                  </a:txBody>
                  <a:tcPr anchor="ctr"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排氣目標壓力設多少？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0B0B0B"/>
                          </a:solidFill>
                          <a:latin typeface="微軟正黑體"/>
                        </a:rPr>
                        <a:t>建議</a:t>
                      </a:r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 0.9</a:t>
                      </a:r>
                      <a:r>
                        <a:rPr lang="zh-TW" altLang="en-US"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 </a:t>
                      </a:r>
                      <a:r>
                        <a:rPr lang="en-US" altLang="zh-TW" sz="1400" b="0" dirty="0">
                          <a:solidFill>
                            <a:srgbClr val="0B0B0B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sz="1400" b="0" dirty="0">
                          <a:solidFill>
                            <a:srgbClr val="0B0B0B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待討論</a:t>
                      </a:r>
                      <a:r>
                        <a:rPr lang="en-US" altLang="zh-TW" sz="1400" b="0" dirty="0">
                          <a:solidFill>
                            <a:srgbClr val="0B0B0B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sz="1400" b="0" dirty="0">
                        <a:solidFill>
                          <a:srgbClr val="0B0B0B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循環時間水準（每時幾分）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0B0B0B"/>
                          </a:solidFill>
                          <a:latin typeface="微軟正黑體"/>
                        </a:rPr>
                        <a:t>先做</a:t>
                      </a:r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 1 / 5 / 10 分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進氣壓力 1.2 是否合適？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沿用先前討論值，待確認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0B0B"/>
                          </a:solidFill>
                          <a:latin typeface="微軟正黑體"/>
                        </a:rPr>
                        <a:t>每個條件重複次數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0B0B0B"/>
                          </a:solidFill>
                          <a:latin typeface="微軟正黑體"/>
                        </a:rPr>
                        <a:t>建議至少</a:t>
                      </a:r>
                      <a:r>
                        <a:rPr sz="1400" b="0" dirty="0">
                          <a:solidFill>
                            <a:srgbClr val="0B0B0B"/>
                          </a:solidFill>
                          <a:latin typeface="微軟正黑體"/>
                        </a:rPr>
                        <a:t> 3 次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4E78"/>
                </a:solidFill>
                <a:latin typeface="微軟正黑體"/>
              </a:rPr>
              <a:t>謝謝洪博指導，敬請指正。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618</Words>
  <Application>Microsoft Office PowerPoint</Application>
  <PresentationFormat>Widescreen</PresentationFormat>
  <Paragraphs>218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微軟正黑體</vt:lpstr>
      <vt:lpstr>微軟正黑體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jack yu</cp:lastModifiedBy>
  <cp:revision>1</cp:revision>
  <dcterms:created xsi:type="dcterms:W3CDTF">2013-01-27T09:14:16Z</dcterms:created>
  <dcterms:modified xsi:type="dcterms:W3CDTF">2026-07-18T16:25:14Z</dcterms:modified>
  <cp:category/>
</cp:coreProperties>
</file>