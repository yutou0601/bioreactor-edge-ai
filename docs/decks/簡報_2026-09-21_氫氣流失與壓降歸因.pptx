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反應器的氣體究竟去了哪裡？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壓降歸因與氫氣質量平衡分析｜2026-09-21｜李承育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44000"/>
            <a:ext cx="11041200" cy="28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一句話的結論：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壓力下降的主要成分，既不是二氧化碳溶解，也不是產甲烷。</a:t>
            </a: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殘餘氣體的 </a:t>
            </a: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CO</a:t>
            </a: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₂:</a:t>
            </a: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H</a:t>
            </a:r>
            <a:r>
              <a:rPr sz="22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₂ 持續偏離進料比，</a:t>
            </a:r>
            <a:r>
              <a:rPr sz="22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但原因尚未定論。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三個候選解釋目前皆無法排除：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① 氫氣超量流失（洩漏、穿透或其他耗氫反應）　② 碳酸鹽脫氣　③ 排氣本身就會選擇性挑掉氫氣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效果量：進料比的 </a:t>
            </a:r>
            <a:r>
              <a:rPr sz="20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1.33 – 2.79 倍</a:t>
            </a:r>
            <a:r>
              <a:rPr sz="17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（下限為將甲烷讀數全當成零的最壞情況）。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前提：進料確認為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CO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₂: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H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₂ = 1:4。★ 2026-09-23 修正：原寫「而是氫氣的超量流失」已改寫——碳酸鹽脫氣在量級上同樣能解釋，且不需要任何洩漏。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一、先看懂這台機器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補到滿 → 壓力慢慢掉 → 掉到底就自動補，一直重複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3</a:t>
            </a:r>
          </a:p>
        </p:txBody>
      </p:sp>
      <p:pic>
        <p:nvPicPr>
          <p:cNvPr id="7" name="Picture 6" descr="deck0a_re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99" y="1224000"/>
            <a:ext cx="9360000" cy="46849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998925"/>
            <a:ext cx="11041200" cy="5350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壓力會下降，就表示容器裡的氣體正在減少。問題是——它們到底去了哪裡？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二、氣體有三種可能的去向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三條路都會讓壓力下降，所以光看壓力分不出來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4</a:t>
            </a:r>
          </a:p>
        </p:txBody>
      </p:sp>
      <p:pic>
        <p:nvPicPr>
          <p:cNvPr id="7" name="Picture 6" descr="deck0b_f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224000"/>
            <a:ext cx="9000000" cy="4419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733473"/>
            <a:ext cx="11041200" cy="800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過去只考慮 ① 和 ②。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　本次分析發現 ③ 不可排除，但尚未確認。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三、先前遺留的三個矛盾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這三件事用「產甲烷主導」解釋不通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00" y="1512000"/>
          <a:ext cx="11051999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0000"/>
                <a:gridCol w="4140000"/>
                <a:gridCol w="4031999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觀察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若壓降主要來自產甲烷，應該看到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實際看到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切斷碳源（二氧化碳）後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壓降速率應大幅下降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幾乎沒變（0.0347 → 0.0367）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氣體總收支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消失的氣體應對應到甲烷產量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有一大段對不起來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壓降曲線形狀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應呈明顯彎曲（溶解的特徵）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91% 幾乎是直線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76000" y="3816000"/>
            <a:ext cx="110412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本次分析從解開這三個矛盾出發。結果是：它們有同一個答案。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四、先確認：氣體讀數什麼時候可信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補氣加入的是二氧化碳與氫氣、不含甲烷，真頂空必定被稀釋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6</a:t>
            </a:r>
          </a:p>
        </p:txBody>
      </p:sp>
      <p:pic>
        <p:nvPicPr>
          <p:cNvPr id="7" name="Picture 6" descr="deck1_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224000"/>
            <a:ext cx="9000000" cy="44755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789531"/>
            <a:ext cx="11041200" cy="7444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實測斜率 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+0.008 ± 0.225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，距「真頂空」應有的 −1 有 4.5 個標準差。分析儀只有在排氣當下的一至二分鐘可信——全資料庫僅 35 筆，後續所有氣體計算只用這 35 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五、關鍵原理：進料比剛好等於反應吃掉的比例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這讓一個不需要任何校準常數的檢定成為可能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7</a:t>
            </a:r>
          </a:p>
        </p:txBody>
      </p:sp>
      <p:pic>
        <p:nvPicPr>
          <p:cNvPr id="7" name="Picture 6" descr="deck0c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99" y="1260000"/>
            <a:ext cx="9540000" cy="4840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六、結果：34 / 35 次都偏向同一側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紅色虛線 = 只有產甲烷反應時應有的位置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8</a:t>
            </a:r>
          </a:p>
        </p:txBody>
      </p:sp>
      <p:pic>
        <p:nvPicPr>
          <p:cNvPr id="7" name="Picture 6" descr="deck2_hydro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188000"/>
            <a:ext cx="9000000" cy="46134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891445"/>
            <a:ext cx="11041200" cy="642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34 / 35 次高於進料比　｜　中位 2.79 倍　｜　</a:t>
            </a:r>
            <a:r>
              <a:rPr sz="1700" b="1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&lt; 0.0001。★把甲烷當零的最壞情況下仍有 1.33 倍（25/35，</a:t>
            </a:r>
            <a:r>
              <a:rPr sz="1700" b="1" i="1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p</a:t>
            </a:r>
            <a:r>
              <a:rPr sz="17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=0.031）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七、這不是量測誤差造成的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以 2026-07-30 那次排氣為例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40000"/>
            <a:ext cx="11041200" cy="39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量測到：二氧化碳 21.3%、甲烷 34.79%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若殘餘氣體真的維持 1:4，扣除甲烷與水蒸氣後，二氧化碳應該只有 </a:t>
            </a:r>
            <a:r>
              <a:rPr sz="20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12.6%</a:t>
            </a:r>
          </a:p>
          <a:p>
            <a:pPr algn="l">
              <a:spcAft>
                <a:spcPts val="14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即使把甲烷讀數</a:t>
            </a:r>
            <a:r>
              <a:rPr sz="20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全部當成零</a:t>
            </a: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（最極端的假設），氫氣上限也只有 78.7%，比值仍為 0.27</a:t>
            </a:r>
          </a:p>
          <a:p>
            <a:pPr algn="l">
              <a:spcAft>
                <a:spcPts val="1000"/>
              </a:spcAft>
            </a:pPr>
          </a:p>
          <a:p>
            <a:pPr algn="l">
              <a:spcAft>
                <a:spcPts val="1600"/>
              </a:spcAft>
            </a:pPr>
            <a:r>
              <a:rPr sz="22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也就是說——二氧化碳的實測值本身，就高到與 1:4 不相容。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量級換算（保守估計）：要讓比值漂移到實測中位數，需要額外移除約 2.57 莫耳氫氣，相當於進料氫氣的 64%。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此換算為單次通過的保守估計，實際為連續補氣，數值僅示意量級。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八、三個矛盾，同一個答案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00" y="1440000"/>
          <a:ext cx="11052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0000"/>
                <a:gridCol w="6372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先前的矛盾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「氫氣流失」如何解釋（★但見第 17、19 頁的替代解釋）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切斷碳源後壓降速率不變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因為消失的主要是氫氣，與碳源有無無關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氣體收支對不起來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缺口就是漏掉的氫氣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壓降曲線幾乎是直線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定速移除才會是直線——洩漏正是定速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76000" y="4104000"/>
            <a:ext cx="110412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甲烷確實在產生</a:t>
            </a: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（自動化批次由 9.99% 升至 39.6%），氧化還原電位也落在文獻最適區間。</a:t>
            </a:r>
          </a:p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但——以壓降速率作為產甲烷速率的代理量，會嚴重高估。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★ 2026-09-23：這三項矛盾也能由「碳酸鹽脫氣」解釋，且不需要任何洩漏。★ 2026-09-27 又找到第三個解釋（排氣本身會挑掉氫氣），三者尚未分辨，見第 17、19 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九、佐證一：切斷碳源，壓降照舊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自動化批次 2026-08-11 ~ 08-31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11</a:t>
            </a:r>
          </a:p>
        </p:txBody>
      </p:sp>
      <p:pic>
        <p:nvPicPr>
          <p:cNvPr id="7" name="Picture 6" descr="deck3_co2c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99" y="1188000"/>
            <a:ext cx="7920000" cy="4596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856599"/>
            <a:ext cx="11041200" cy="65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這個「沒有差異」有檢定力：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若生物途徑真的佔總壓降三分之一（0.0125），本檢定偵測得到的機率是 100%。結果沒有。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十、佐證二：壓降曲線幾乎是直線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溶解會讓曲線彎，定速移除是直線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12</a:t>
            </a:r>
          </a:p>
        </p:txBody>
      </p:sp>
      <p:pic>
        <p:nvPicPr>
          <p:cNvPr id="7" name="Picture 6" descr="deck4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224000"/>
            <a:ext cx="9000000" cy="47906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6086674"/>
            <a:ext cx="11041200" cy="4293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全資料庫 252 條下降曲線，九成落在「接近直線」這一群。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十一、氧化還原電位（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）該怎麼讀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水準健康，但循環內的變化不是生物造成的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13</a:t>
            </a:r>
          </a:p>
        </p:txBody>
      </p:sp>
      <p:pic>
        <p:nvPicPr>
          <p:cNvPr id="7" name="Picture 6" descr="deck5_o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99" y="1152000"/>
            <a:ext cx="6480000" cy="31650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4425077"/>
            <a:ext cx="11041200" cy="11549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水準：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−357 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（對 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SHE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），文獻最適為 −335.6 ± 29.0 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— </a:t>
            </a:r>
            <a:r>
              <a:rPr sz="17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正落在區間內</a:t>
            </a:r>
          </a:p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變化：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補氣跳 +37 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；泵運轉 +3.5 ~ +10.8 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mV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/分。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產甲烷必須停止的時段，</a:t>
            </a:r>
            <a:r>
              <a:rPr sz="16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6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照常變化。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5562000"/>
            <a:ext cx="11329200" cy="864000"/>
          </a:xfrm>
          <a:prstGeom prst="rect">
            <a:avLst/>
          </a:prstGeom>
          <a:solidFill>
            <a:srgbClr val="F2F7FC"/>
          </a:solidFill>
          <a:ln w="9525">
            <a:solidFill>
              <a:srgbClr val="2AB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000" y="5670000"/>
            <a:ext cx="10969200" cy="64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文獻將 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300" b="0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當微生物活性指標，其對象是未外加氫氣的系統；本反應器的氫氣為外部輸入，會直接鉗制電位，該套解讀不能直接移植。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十一之一、先說明什麼是 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PINN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後面兩頁會用到，這裡先把它講清楚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14</a:t>
            </a:r>
          </a:p>
        </p:txBody>
      </p:sp>
      <p:pic>
        <p:nvPicPr>
          <p:cNvPr id="7" name="Picture 6" descr="deck11_pinn_w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152000"/>
            <a:ext cx="9000000" cy="42776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555635"/>
            <a:ext cx="11041200" cy="8523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一句話：</a:t>
            </a: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用神經網路取代「固定公式」，但要求它同時滿足物理定律。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這樣生物速率就不必被假設成固定值——它本來就會隨氫氣耗盡而改變。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十二、試過但不成立的兩個方法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誠實記錄，避免後續重複投入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152000"/>
            <a:ext cx="11041200" cy="20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① 以「曲率」分離生物與物理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前提是生物速率為定值，但它會隨氫氣耗盡而變動。以已知答案驗證：真實物理份額 0% 時，該方法報出 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101%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② 以物理資訊神經網路（</a:t>
            </a: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PINN</a:t>
            </a:r>
            <a:r>
              <a:rPr sz="20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）反推生物速率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方向正確，但方程式本身存在一個恰好抵銷的自由度（見次頁）。</a:t>
            </a:r>
          </a:p>
        </p:txBody>
      </p:sp>
      <p:pic>
        <p:nvPicPr>
          <p:cNvPr id="8" name="Picture 7" descr="deck6_pi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99" y="3311999"/>
            <a:ext cx="5940000" cy="30679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十二之一、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PINN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為什麼撈不回來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不是網路不夠大，是壓力這一個通道裡沒有這個資訊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116000"/>
            <a:ext cx="110412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氣體變少只有兩個原因：溶進水裡（物理）、被菌吃掉（生物）。壓力計只看得到兩者的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總和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。把生物項算多一點、同時把「平衡壓力」調高一點，兩者剛好互相抵銷——壓力曲線一模一樣。</a:t>
            </a:r>
          </a:p>
        </p:txBody>
      </p:sp>
      <p:pic>
        <p:nvPicPr>
          <p:cNvPr id="8" name="Picture 7" descr="deck8_pinn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99" y="2340000"/>
            <a:ext cx="7920000" cy="3743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十二之二、同一條壓降，兩種完全不同的答案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兩者的擬合誤差幾乎相同，資料無從選擇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17</a:t>
            </a:r>
          </a:p>
        </p:txBody>
      </p:sp>
      <p:pic>
        <p:nvPicPr>
          <p:cNvPr id="7" name="Picture 6" descr="deck7_pinn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599" y="1152000"/>
            <a:ext cx="8280000" cy="4159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455528"/>
            <a:ext cx="11041200" cy="952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但要講清楚：分不開的是生物速率的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平均值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。它的</a:t>
            </a:r>
            <a:r>
              <a:rPr sz="19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時間變化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其實還留在資料裡（訊噪比 6.0），只是被「速率不可為負」這個設定連帶壓死了——把平均值另外定住，變化的形狀就回來了（相關 0.97）。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十二之三、還有另一個解釋：碳酸鹽脫氣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2026-09-23 補充——這個解釋不需要任何洩漏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18</a:t>
            </a:r>
          </a:p>
        </p:txBody>
      </p:sp>
      <p:pic>
        <p:nvPicPr>
          <p:cNvPr id="7" name="Picture 6" descr="deck9_carbon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599" y="1188000"/>
            <a:ext cx="8280000" cy="4247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561455"/>
            <a:ext cx="11041200" cy="846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量級檢查：只需 </a:t>
            </a:r>
            <a:r>
              <a:rPr sz="20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2.6%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的液相碳庫在排氣瞬間冒出來，就足以解釋觀測到的全部偏離。</a:t>
            </a:r>
          </a:p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方向性檢驗（壓降越大應脫越多）實測 </a:t>
            </a:r>
            <a:r>
              <a:rPr sz="1400" b="0" i="1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ρ</a:t>
            </a: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=+0.21，方向符合，但 35 筆的可偵測門檻是 0.46，樣本不足以分辨；排氣後立刻補氣會降 </a:t>
            </a: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，故 </a:t>
            </a: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4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 檢驗遭混淆、不可單獨解讀。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十二之四、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與 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的關聯到底長什麼樣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現場觀察到兩者有關聯——資料顯示有，但不是想像的那種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19</a:t>
            </a:r>
          </a:p>
        </p:txBody>
      </p:sp>
      <p:pic>
        <p:nvPicPr>
          <p:cNvPr id="7" name="Picture 6" descr="deck10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99" y="1188000"/>
            <a:ext cx="8640000" cy="3853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149072"/>
            <a:ext cx="11041200" cy="1258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關聯確實存在，但是「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的水準」對「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的變化」；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ORP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與 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的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變化量之間幾乎無關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（+0.02）。扣掉時間漂移後這些關聯幾乎不變，故不是時間造成的。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十二之五、第三個解釋：排氣本身就會挑掉氫氣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2026-09-27 補充——這也不需要洩漏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20</a:t>
            </a:r>
          </a:p>
        </p:txBody>
      </p:sp>
      <p:pic>
        <p:nvPicPr>
          <p:cNvPr id="7" name="Picture 6" descr="deck13_vent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152000"/>
            <a:ext cx="9000000" cy="49586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6218613"/>
            <a:ext cx="11041200" cy="189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另一項更正：先前偵測到的排氣只有 </a:t>
            </a:r>
            <a:r>
              <a:rPr sz="19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35 次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（限有氣體組成者），以壓力驟降重新偵測後實際有 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108 次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十二之六、二氧化碳的消耗量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洪博要求的數字——不需要氫氣感測器就能給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21</a:t>
            </a:r>
          </a:p>
        </p:txBody>
      </p:sp>
      <p:pic>
        <p:nvPicPr>
          <p:cNvPr id="7" name="Picture 6" descr="deck12_c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99" y="1152000"/>
            <a:ext cx="9000000" cy="494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6205054"/>
            <a:ext cx="11041200" cy="202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以總容積 1.8 </a:t>
            </a:r>
            <a:r>
              <a:rPr sz="17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L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、液相佔一半估算整機：長期 </a:t>
            </a:r>
            <a:r>
              <a:rPr sz="19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0.082 </a:t>
            </a:r>
            <a:r>
              <a:rPr sz="19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mmol</a:t>
            </a:r>
            <a:r>
              <a:rPr sz="19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900" b="1" i="0">
                <a:solidFill>
                  <a:srgbClr val="1F6FB5"/>
                </a:solidFill>
                <a:latin typeface="Times New Roman"/>
                <a:ea typeface="標楷體"/>
                <a:ea typeface="標楷體"/>
              </a:rPr>
              <a:t>hr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、初始 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0.391 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mmol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/</a:t>
            </a:r>
            <a:r>
              <a:rPr sz="19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hr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。⚠ 液位確認後即可定案。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十二之七、四個方法都指向同一個方向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論文定版的生物速率可能被低估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22</a:t>
            </a:r>
          </a:p>
        </p:txBody>
      </p:sp>
      <p:pic>
        <p:nvPicPr>
          <p:cNvPr id="7" name="Picture 6" descr="deck14_curv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599" y="1152000"/>
            <a:ext cx="8640000" cy="39218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00" y="5181815"/>
            <a:ext cx="11041200" cy="1226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曲率配對是本次新做的：用既有資料裡「質傳速率不同」的兩條曲線互相對消，即可解出生物速率，不需要新實驗。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十三、本分析的限制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引用時應一併說明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440000"/>
            <a:ext cx="110412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氫氣濃度為差額推算，非直接量測（分析儀僅量二氧化碳與甲烷）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無法區分氫氣流失的機制：洩漏、穿透、或其他耗氫生化反應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僅 35 筆可用的氣體組成資料，平均每 11 天一筆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碳源中斷時進料組成同時改變，兩時段的差異不僅限於碳源有無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• 酸鹼值的結果效應量極小（約為儀器刻度的七分之一），屬方向性證據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十四、建議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第一項完成前，其餘方向都無法定案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296000"/>
            <a:ext cx="110412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最優先：氫氣氣密性檢查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於無菌或不含微生物的條件下，以氮氣與氫氣分別充壓至相同絕對壓力，記錄 24 小時的壓力變化。氫氣若衰減顯著較快，即為直接證據。同時建議檢查彈性體墊片材質是否為氫氣適用。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3024000"/>
          <a:ext cx="11051999" cy="203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000"/>
                <a:gridCol w="2160000"/>
                <a:gridCol w="2015999"/>
                <a:gridCol w="5004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項目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現況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建議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可解鎖什麼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排氣頻率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平均每 11 天一次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每 3.5 小時一次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一週的資料量超過過去一整年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排氣期取樣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每分鐘一筆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每 10 秒一筆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排氣僅橫跨 3~4 筆，容易錯過峰值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酸鹼值解析度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0.01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0.001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pH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是唯一符號相反的判別通道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氣體分析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CO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₂、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CH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₄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加測 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H</a:t>
                      </a:r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₂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核心結論可由推算改為直接量測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排氣氣體量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未量測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加裝氣量計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直接關閉氣體收支的缺口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180000"/>
            <a:ext cx="113292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十五、需要協助與確認的事項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763200"/>
            <a:ext cx="11761200" cy="18000"/>
          </a:xfrm>
          <a:prstGeom prst="rect">
            <a:avLst/>
          </a:prstGeom>
          <a:solidFill>
            <a:srgbClr val="2AB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3999" y="842400"/>
            <a:ext cx="11185201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Times New Roman"/>
                <a:ea typeface="標楷體"/>
                <a:ea typeface="標楷體"/>
              </a:rPr>
              <a:t>2026-09-23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52000"/>
            <a:ext cx="12193200" cy="306000"/>
          </a:xfrm>
          <a:prstGeom prst="rect">
            <a:avLst/>
          </a:prstGeom>
          <a:solidFill>
            <a:srgbClr val="2E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29200" y="6577200"/>
            <a:ext cx="57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  <a:ea typeface="標楷體"/>
                <a:ea typeface="標楷體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188000"/>
            <a:ext cx="11041200" cy="1655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最優先：無菌（或不含活性菌）靜態保壓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以 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N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₂ 與 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H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₂ 分別充壓至相同絕對壓力，各記錄約 </a:t>
            </a:r>
            <a:r>
              <a:rPr sz="19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3.5 天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。這是目前唯一能分辨「氫氣流失」與「碳酸鹽脫氣」的方法。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⚠ 關鍵細節：前 33 小時的資料不可採計</a:t>
            </a:r>
            <a:r>
              <a:rPr sz="16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——剛充壓時氣體仍在溶進水裡，那段壓降不是洩漏。須待溶解平衡後（約 5 個時間常數）才開始計算。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3096000"/>
          <a:ext cx="110520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0000"/>
                <a:gridCol w="3420000"/>
                <a:gridCol w="4212000"/>
              </a:tblGrid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量到什麼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代表什麼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後續處置</a:t>
                      </a:r>
                    </a:p>
                  </a:txBody>
                  <a:tcPr marL="72000" marR="72000" anchor="ctr">
                    <a:solidFill>
                      <a:srgbClr val="2E9BD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H</a:t>
                      </a:r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₂ 掉得比 </a:t>
                      </a:r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N</a:t>
                      </a:r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₂ 快約 3.74 倍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機械洩漏（</a:t>
                      </a:r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Graham</a:t>
                      </a:r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 定律）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查接頭、閥件、焊道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比例不是 3.74，但 </a:t>
                      </a:r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H</a:t>
                      </a:r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₂ 明顯較快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材料穿透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更換墊片材質</a:t>
                      </a:r>
                    </a:p>
                  </a:txBody>
                  <a:tcPr marL="72000" marR="72000" anchor="ctr">
                    <a:solidFill>
                      <a:srgbClr val="EAF2FA"/>
                    </a:solidFill>
                  </a:tcPr>
                </a:tc>
              </a:tr>
              <a:tr h="33120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兩者都幾乎不掉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洩漏被排除，剩碳酸鹽脫氣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000000"/>
                          </a:solidFill>
                          <a:latin typeface="Times New Roman"/>
                          <a:ea typeface="標楷體"/>
                          <a:ea typeface="標楷體"/>
                        </a:rPr>
                        <a:t>改由加密排氣取樣驗證</a:t>
                      </a:r>
                    </a:p>
                  </a:txBody>
                  <a:tcPr marL="72000" marR="72000" anchor="ctr">
                    <a:solidFill>
                      <a:srgbClr val="DBE9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00" y="4824000"/>
            <a:ext cx="110412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需要確認的現場資訊（未敢自行假設）：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① 滅菌／去活性方式　② </a:t>
            </a:r>
            <a:r>
              <a:rPr sz="18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液位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（最優先，液相三成 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vs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七成整機速率差 2.3 倍）　③ 墊片材質　④ 液相溫度　⑤ 總容積究竉是 1.8 還是 1.99 </a:t>
            </a:r>
            <a:r>
              <a:rPr sz="1700" b="0" i="1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L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⑥ </a:t>
            </a:r>
            <a:r>
              <a:rPr sz="18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鹼度 </a:t>
            </a:r>
            <a:r>
              <a:rPr sz="18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TA</a:t>
            </a:r>
            <a:r>
              <a:rPr sz="1800" b="1" i="0">
                <a:solidFill>
                  <a:srgbClr val="FF0000"/>
                </a:solidFill>
                <a:latin typeface="Times New Roman"/>
                <a:ea typeface="標楷體"/>
                <a:ea typeface="標楷體"/>
              </a:rPr>
              <a:t> 或總溶解無機碳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（需滴定）——目前液相碳庫是由 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pH</a:t>
            </a:r>
            <a:r>
              <a:rPr sz="1700" b="0" i="0">
                <a:solidFill>
                  <a:srgbClr val="000000"/>
                </a:solidFill>
                <a:latin typeface="Times New Roman"/>
                <a:ea typeface="標楷體"/>
                <a:ea typeface="標楷體"/>
              </a:rPr>
              <a:t> 推算的，而它直接決定上述兩個機制的強度。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