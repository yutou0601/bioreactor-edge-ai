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32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壓降歸因與氫氣收支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微正壓循環生物甲烷化反應器｜2026-09-21（10-02 架構修正）｜李承育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1800000"/>
            <a:ext cx="11041200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22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兩個要分開的問題：</a:t>
            </a:r>
          </a:p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1F6FB5"/>
                </a:solidFill>
                <a:latin typeface="Times New Roman"/>
                <a:ea typeface="標楷體"/>
                <a:ea typeface="標楷體"/>
              </a:rPr>
              <a:t>① 壓力為什麼會掉　</a:t>
            </a: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氣泵把氣體打進水裡（裝置本來就是這樣設計），再被菌吃掉。</a:t>
            </a:r>
          </a:p>
          <a:p>
            <a:pPr algn="l">
              <a:spcAft>
                <a:spcPts val="1600"/>
              </a:spcAft>
            </a:pPr>
            <a:r>
              <a:rPr sz="17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　 由甲烷換算，生物解釋 </a:t>
            </a:r>
            <a:r>
              <a:rPr sz="19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39%</a:t>
            </a:r>
            <a:r>
              <a:rPr sz="17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 的壓降；</a:t>
            </a:r>
            <a:r>
              <a:rPr sz="19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殘餘 61% 尚待解釋</a:t>
            </a:r>
            <a:r>
              <a:rPr sz="17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。</a:t>
            </a:r>
          </a:p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1F6FB5"/>
                </a:solidFill>
                <a:latin typeface="Times New Roman"/>
                <a:ea typeface="標楷體"/>
                <a:ea typeface="標楷體"/>
              </a:rPr>
              <a:t>② 剩下的氣體比例不對　</a:t>
            </a: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二氧化碳對氫氣比補進去的比例高 1.33 – 2.79 倍。</a:t>
            </a:r>
          </a:p>
          <a:p>
            <a:pPr algn="l">
              <a:spcAft>
                <a:spcPts val="1600"/>
              </a:spcAft>
            </a:pPr>
            <a:r>
              <a:rPr sz="17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　 溶進水裡解釋不了這件事：二氧化碳溶掉會讓比值變小，但實測是變大。這是另一個待解的問題。</a:t>
            </a:r>
          </a:p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⚠ 本版修正了先前的模型錯誤：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原先把「溶進水裡」與「被菌吃掉」當成兩條各走各的路，並據此說「壓降主因不是溶解」。實際上是一個接著一個：氣體先溶進水裡，再被菌吃掉。那個說法已撤回。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32000" y="5562000"/>
            <a:ext cx="11329200" cy="864000"/>
          </a:xfrm>
          <a:prstGeom prst="rect">
            <a:avLst/>
          </a:prstGeom>
          <a:solidFill>
            <a:srgbClr val="F2F7FC"/>
          </a:solidFill>
          <a:ln w="9525">
            <a:solidFill>
              <a:srgbClr val="2AB6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000" y="5670000"/>
            <a:ext cx="10969200" cy="64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前提：進料確認為 </a:t>
            </a:r>
            <a:r>
              <a:rPr sz="1300" b="0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CO</a:t>
            </a:r>
            <a:r>
              <a:rPr sz="1300" b="0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₂:</a:t>
            </a:r>
            <a:r>
              <a:rPr sz="1300" b="0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H</a:t>
            </a:r>
            <a:r>
              <a:rPr sz="1300" b="0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₂ = 1:4。氣體讀數僅排氣當下 1~2 分鐘可信，全資料庫 35 筆。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一、壓力為什麼會掉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氣泵把氣體打進水裡，再被菌吃掉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3</a:t>
            </a:r>
          </a:p>
        </p:txBody>
      </p:sp>
      <p:pic>
        <p:nvPicPr>
          <p:cNvPr id="7" name="Picture 6" descr="deck15_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6599" y="1152000"/>
            <a:ext cx="8640000" cy="481742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00" y="6077427"/>
            <a:ext cx="11041200" cy="330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⚠ 先前把這兩件事當成各走各的，並據此說「壓降主因不是溶解」。</a:t>
            </a:r>
            <a:r>
              <a:rPr sz="18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該主張已撤回。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二、這樣看一次解釋了三件事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這三件先前都當成各自獨立的謎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76000" y="1440000"/>
          <a:ext cx="1105200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40000"/>
                <a:gridCol w="3240000"/>
                <a:gridCol w="4572000"/>
              </a:tblGrid>
              <a:tr h="378000"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先前的觀察</a:t>
                      </a:r>
                    </a:p>
                  </a:txBody>
                  <a:tcPr marL="72000" marR="72000" anchor="ctr">
                    <a:solidFill>
                      <a:srgbClr val="2E9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先前的解讀</a:t>
                      </a:r>
                    </a:p>
                  </a:txBody>
                  <a:tcPr marL="72000" marR="72000" anchor="ctr">
                    <a:solidFill>
                      <a:srgbClr val="2E9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正確的解釋</a:t>
                      </a:r>
                    </a:p>
                  </a:txBody>
                  <a:tcPr marL="72000" marR="72000" anchor="ctr">
                    <a:solidFill>
                      <a:srgbClr val="2E9BD6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91% 的壓降曲線接近直線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⚠ 曾解讀為「不是溶解」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水裡的碳一直被菌吃掉、吸不飽，所以溶解是固定速度——那本來就是直線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菌吃多快與平衡壓力分不開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⚠ 曾視為巧合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本來就是直線，卻拿彎曲的公式去套，當然套不出來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切斷碳源後壓降速率不變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⚠ 曾解讀為「氫氣流失」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水裡存的碳還夠用幾十天，所以碳源根本沒斷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76000" y="4176000"/>
            <a:ext cx="11041200" cy="19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三項先前各自成謎的觀察，在正確的模型下都是</a:t>
            </a:r>
            <a:r>
              <a:rPr sz="20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必然的結果</a:t>
            </a: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。</a:t>
            </a:r>
          </a:p>
          <a:p>
            <a:pPr algn="ctr">
              <a:spcAft>
                <a:spcPts val="600"/>
              </a:spcAft>
            </a:pPr>
            <a:r>
              <a:rPr sz="17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⟹ 真正待解的是兩件：菌吃掉的量解釋不了的那 61% 壓降，以及剩下的氣體比例為何不對。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三、先確認：氣體讀數什麼時候可信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補進去的是二氧化碳與氫氣、不含甲烷，槽內真實氣體必定被稀釋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5</a:t>
            </a:r>
          </a:p>
        </p:txBody>
      </p:sp>
      <p:pic>
        <p:nvPicPr>
          <p:cNvPr id="7" name="Picture 6" descr="deck1_sens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6599" y="1224000"/>
            <a:ext cx="9000000" cy="447553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00" y="5789531"/>
            <a:ext cx="11041200" cy="7444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實測斜率 </a:t>
            </a:r>
            <a:r>
              <a:rPr sz="19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+0.008 ± 0.225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，距「真的量到槽內氣體」應有的 −1 差了 4.5 個標準差。分析儀只有在排氣當下的一至二分鐘可信——全資料庫僅 35 筆，後續所有氣體計算只用這 35 筆。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四、剩下的氣體比例與補進去的不同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紅色虛線 = 只有產甲烷反應時應有的位置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6</a:t>
            </a:r>
          </a:p>
        </p:txBody>
      </p:sp>
      <p:pic>
        <p:nvPicPr>
          <p:cNvPr id="7" name="Picture 6" descr="deck2_hydrog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6599" y="1188000"/>
            <a:ext cx="9000000" cy="461344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00" y="5891445"/>
            <a:ext cx="11041200" cy="6425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34 / 35 次高於進料比　｜　中位 2.79 倍　｜　</a:t>
            </a:r>
            <a:r>
              <a:rPr sz="1700" b="1" i="1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p</a:t>
            </a:r>
            <a:r>
              <a:rPr sz="17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 &lt; 0.0001。★把甲烷當零的最壞情況下仍有 1.33 倍（25/35，</a:t>
            </a:r>
            <a:r>
              <a:rPr sz="1700" b="1" i="1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p</a:t>
            </a:r>
            <a:r>
              <a:rPr sz="17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=0.031）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五、這不是量測誤差造成的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以 2026-07-30 那次排氣為例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1440000"/>
            <a:ext cx="11041200" cy="39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20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量測到：二氧化碳 21.3%、甲烷 34.79%</a:t>
            </a:r>
          </a:p>
          <a:p>
            <a:pPr algn="l">
              <a:spcAft>
                <a:spcPts val="14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若殘餘氣體真的維持 1:4，扣除甲烷與水蒸氣後，二氧化碳應該只有 </a:t>
            </a:r>
            <a:r>
              <a:rPr sz="2000" b="1" i="0">
                <a:solidFill>
                  <a:srgbClr val="1F6FB5"/>
                </a:solidFill>
                <a:latin typeface="Times New Roman"/>
                <a:ea typeface="標楷體"/>
                <a:ea typeface="標楷體"/>
              </a:rPr>
              <a:t>12.6%</a:t>
            </a:r>
          </a:p>
          <a:p>
            <a:pPr algn="l">
              <a:spcAft>
                <a:spcPts val="14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即使把甲烷讀數</a:t>
            </a:r>
            <a:r>
              <a:rPr sz="20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全部當成零</a:t>
            </a: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（最極端的假設），氫氣上限也只有 78.7%，比值仍為 0.27</a:t>
            </a:r>
          </a:p>
          <a:p>
            <a:pPr algn="l">
              <a:spcAft>
                <a:spcPts val="1000"/>
              </a:spcAft>
            </a:pPr>
          </a:p>
          <a:p>
            <a:pPr algn="l">
              <a:spcAft>
                <a:spcPts val="1600"/>
              </a:spcAft>
            </a:pPr>
            <a:r>
              <a:rPr sz="22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也就是說——二氧化碳的實測值本身，就高到與 1:4 不相容。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量級換算（保守估計）：要讓比值漂移到實測中位數，需要額外移除約 2.57 莫耳氫氣，相當於進料氫氣的 64%。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32000" y="5562000"/>
            <a:ext cx="11329200" cy="864000"/>
          </a:xfrm>
          <a:prstGeom prst="rect">
            <a:avLst/>
          </a:prstGeom>
          <a:solidFill>
            <a:srgbClr val="F2F7FC"/>
          </a:solidFill>
          <a:ln w="9525">
            <a:solidFill>
              <a:srgbClr val="2AB6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000" y="5670000"/>
            <a:ext cx="10969200" cy="64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此換算為單次通過的保守估計，實際為連續補氣，數值僅示意量級。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六、</a:t>
            </a: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ORP</a:t>
            </a: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（水的氧化還原狀態）該怎麼讀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數值本身正常，但循環裡的起伏不是菌造成的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8</a:t>
            </a:r>
          </a:p>
        </p:txBody>
      </p:sp>
      <p:pic>
        <p:nvPicPr>
          <p:cNvPr id="7" name="Picture 6" descr="deck5_or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6599" y="1152000"/>
            <a:ext cx="6480000" cy="316507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00" y="4425077"/>
            <a:ext cx="11041200" cy="11549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數值本身：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−357 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mV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，落在文獻最適範圍 −335.6 ± 29.0 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mV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 </a:t>
            </a:r>
            <a:r>
              <a:rPr sz="1700" b="1" i="0">
                <a:solidFill>
                  <a:srgbClr val="1F6FB5"/>
                </a:solidFill>
                <a:latin typeface="Times New Roman"/>
                <a:ea typeface="標楷體"/>
                <a:ea typeface="標楷體"/>
              </a:rPr>
              <a:t>之內</a:t>
            </a:r>
          </a:p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循環裡的起伏：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一補氣就跳 +37 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mV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，氣泵一開每分鐘再走 +3.5 ~ +10.8 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mV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——都是操作造成的。</a:t>
            </a:r>
          </a:p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連碳源已用完、菌不可能在產甲烷的時段，</a:t>
            </a:r>
            <a:r>
              <a:rPr sz="16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ORP</a:t>
            </a:r>
            <a:r>
              <a:rPr sz="16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 照樣在動。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32000" y="5562000"/>
            <a:ext cx="11329200" cy="864000"/>
          </a:xfrm>
          <a:prstGeom prst="rect">
            <a:avLst/>
          </a:prstGeom>
          <a:solidFill>
            <a:srgbClr val="F2F7FC"/>
          </a:solidFill>
          <a:ln w="9525">
            <a:solidFill>
              <a:srgbClr val="2AB6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000" y="5670000"/>
            <a:ext cx="10969200" cy="64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文獻把 </a:t>
            </a:r>
            <a:r>
              <a:rPr sz="1300" b="0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ORP</a:t>
            </a:r>
            <a:r>
              <a:rPr sz="1300" b="0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 當成「菌有多活躍」的指標，但那些系統沒有從外面加氫氣；本反應器的氫氣是打進去的，會直接把數值壓住，那套讀法不能照搬。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七、先說明什麼是 </a:t>
            </a: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PINN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後面兩頁會用到，這裡先把它講清楚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9</a:t>
            </a:r>
          </a:p>
        </p:txBody>
      </p:sp>
      <p:pic>
        <p:nvPicPr>
          <p:cNvPr id="7" name="Picture 6" descr="deck11_pinn_wh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6599" y="1152000"/>
            <a:ext cx="9000000" cy="427763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00" y="5555635"/>
            <a:ext cx="11041200" cy="8523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一句話：</a:t>
            </a: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用神經網路取代「固定公式」，但要求它同時滿足物理定律。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這樣生物速率就不必被假設成固定值——它本來就會隨氫氣耗盡而改變。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八、試過但不成立的兩個方法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誠實記錄，避免後續重複投入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1152000"/>
            <a:ext cx="11041200" cy="20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① 以「曲率」分離生物與物理</a:t>
            </a:r>
          </a:p>
          <a:p>
            <a:pPr algn="l">
              <a:spcAft>
                <a:spcPts val="12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前提是生物速率為定值，但它會隨氫氣耗盡而變動。以已知答案驗證：真實物理份額 0% 時，該方法報出 </a:t>
            </a:r>
            <a:r>
              <a:rPr sz="19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101%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。</a:t>
            </a:r>
          </a:p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② 以物理資訊神經網路（</a:t>
            </a:r>
            <a:r>
              <a:rPr sz="20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PINN</a:t>
            </a:r>
            <a:r>
              <a:rPr sz="20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）反推生物速率</a:t>
            </a:r>
          </a:p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方向正確，但方程式本身存在一個恰好抵銷的自由度（見次頁）。</a:t>
            </a:r>
          </a:p>
        </p:txBody>
      </p:sp>
      <p:pic>
        <p:nvPicPr>
          <p:cNvPr id="8" name="Picture 7" descr="deck6_pin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6599" y="3311999"/>
            <a:ext cx="5940000" cy="310159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九、</a:t>
            </a: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PINN</a:t>
            </a: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 為什麼撈不回來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不是網路不夠大，是壓力這一個通道裡沒有這個資訊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1116000"/>
            <a:ext cx="11041200" cy="11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氣體變少只有兩個原因：溶進水裡（物理）、被菌吃掉（生物）。壓力計只看得到兩者的</a:t>
            </a:r>
            <a:r>
              <a:rPr sz="19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總和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。把生物項算多一點、同時把「平衡壓力」調高一點，兩者剛好互相抵銷——壓力曲線一模一樣。</a:t>
            </a:r>
          </a:p>
        </p:txBody>
      </p:sp>
      <p:pic>
        <p:nvPicPr>
          <p:cNvPr id="8" name="Picture 7" descr="deck8_pinn_cor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6599" y="2340000"/>
            <a:ext cx="7920000" cy="37433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十、同一條壓降，兩種完全不同的說法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兩者的擬合誤差幾乎相同，資料無從選擇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12</a:t>
            </a:r>
          </a:p>
        </p:txBody>
      </p:sp>
      <p:pic>
        <p:nvPicPr>
          <p:cNvPr id="7" name="Picture 6" descr="deck7_pinn_feat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6599" y="1152000"/>
            <a:ext cx="8280000" cy="41595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00" y="5455528"/>
            <a:ext cx="11041200" cy="9524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但要講清楚：分不開的是生物速率的</a:t>
            </a:r>
            <a:r>
              <a:rPr sz="19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平均值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。它的</a:t>
            </a:r>
            <a:r>
              <a:rPr sz="1900" b="1" i="0">
                <a:solidFill>
                  <a:srgbClr val="1F6FB5"/>
                </a:solidFill>
                <a:latin typeface="Times New Roman"/>
                <a:ea typeface="標楷體"/>
                <a:ea typeface="標楷體"/>
              </a:rPr>
              <a:t>時間變化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其實還留在資料裡（訊噪比 6.0），只是被「速率不可為負」這個設定連帶壓死了——把平均值另外定住，變化的形狀就回來了（相關 0.97）。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十一、比例不對的解釋之一：水裡的碳冒回來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2026-09-23 補充——這個解釋不需要任何洩漏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13</a:t>
            </a:r>
          </a:p>
        </p:txBody>
      </p:sp>
      <p:pic>
        <p:nvPicPr>
          <p:cNvPr id="7" name="Picture 6" descr="deck9_carbon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6599" y="1188000"/>
            <a:ext cx="8280000" cy="42474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00" y="5561455"/>
            <a:ext cx="11041200" cy="8465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量級檢查：只需 </a:t>
            </a:r>
            <a:r>
              <a:rPr sz="20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2.6%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 的「水裡溶著的碳」在排氣瞬間冒出來，就足以解釋全部的偏離。</a:t>
            </a:r>
          </a:p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方向性檢驗（壓降越大應脫越多）實測 </a:t>
            </a:r>
            <a:r>
              <a:rPr sz="1400" b="0" i="1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ρ</a:t>
            </a:r>
            <a:r>
              <a:rPr sz="14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=+0.21，方向符合，但 35 筆資料最少要 0.46 才看得出來，樣本不足以分辨；排氣後立刻補氣會降 </a:t>
            </a:r>
            <a:r>
              <a:rPr sz="14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pH</a:t>
            </a:r>
            <a:r>
              <a:rPr sz="14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，故 </a:t>
            </a:r>
            <a:r>
              <a:rPr sz="14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pH</a:t>
            </a:r>
            <a:r>
              <a:rPr sz="14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 檢驗遭混淆、不可單獨解讀。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十二、</a:t>
            </a: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ORP</a:t>
            </a: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 與酸鹼值到底有沒有關係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現場觀察到兩者有關聯——資料顯示有，但不是想像的那種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14</a:t>
            </a:r>
          </a:p>
        </p:txBody>
      </p:sp>
      <p:pic>
        <p:nvPicPr>
          <p:cNvPr id="7" name="Picture 6" descr="deck10_coup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6599" y="1188000"/>
            <a:ext cx="8640000" cy="38530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00" y="5149072"/>
            <a:ext cx="11041200" cy="1258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關聯確實存在，但是「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ORP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 的高低」對「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pH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 的變化」；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ORP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 與 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pH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 的</a:t>
            </a:r>
            <a:r>
              <a:rPr sz="19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變化量之間幾乎無關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（+0.02）。扣掉時間漂移後這些關聯幾乎不變，故不是時間造成的。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十三、比例不對的解釋之二：排氣挑掉氫氣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2026-09-27 補充——這也不需要洩漏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15</a:t>
            </a:r>
          </a:p>
        </p:txBody>
      </p:sp>
      <p:pic>
        <p:nvPicPr>
          <p:cNvPr id="7" name="Picture 6" descr="deck13_ventlo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6599" y="1152000"/>
            <a:ext cx="9000000" cy="495861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00" y="6218613"/>
            <a:ext cx="11041200" cy="189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先前只數到 </a:t>
            </a:r>
            <a:r>
              <a:rPr sz="19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35 次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排氣（限有氣體讀數的），改以壓力驟降去找，實際有 </a:t>
            </a:r>
            <a:r>
              <a:rPr sz="19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108 次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十四、二氧化碳的消耗量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洪博要求的數字——不需要氫氣感測器就能給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16</a:t>
            </a:r>
          </a:p>
        </p:txBody>
      </p:sp>
      <p:pic>
        <p:nvPicPr>
          <p:cNvPr id="7" name="Picture 6" descr="deck12_co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6599" y="1152000"/>
            <a:ext cx="9000000" cy="494505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00" y="6205054"/>
            <a:ext cx="11041200" cy="2029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以總容積 1.8 </a:t>
            </a:r>
            <a:r>
              <a:rPr sz="1700" b="0" i="1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L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、水佔一半估算：長期 </a:t>
            </a:r>
            <a:r>
              <a:rPr sz="1900" b="1" i="0">
                <a:solidFill>
                  <a:srgbClr val="1F6FB5"/>
                </a:solidFill>
                <a:latin typeface="Times New Roman"/>
                <a:ea typeface="標楷體"/>
                <a:ea typeface="標楷體"/>
              </a:rPr>
              <a:t>0.120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、初始 </a:t>
            </a:r>
            <a:r>
              <a:rPr sz="19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0.391 </a:t>
            </a:r>
            <a:r>
              <a:rPr sz="19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mmol</a:t>
            </a:r>
            <a:r>
              <a:rPr sz="19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/</a:t>
            </a:r>
            <a:r>
              <a:rPr sz="19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hr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（⚠ 待水位確認）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十五、四個方法都指向同一個方向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論文定版的生物速率可能被低估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17</a:t>
            </a:r>
          </a:p>
        </p:txBody>
      </p:sp>
      <p:pic>
        <p:nvPicPr>
          <p:cNvPr id="7" name="Picture 6" descr="deck14_curva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6599" y="1152000"/>
            <a:ext cx="8640000" cy="384697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00" y="5106978"/>
            <a:ext cx="11041200" cy="13010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曲率配對是本次新做的：用既有資料裡「氣體溶進水的快慢不同」的兩條曲線互相對消，即可解出生物速率，不需要新實驗。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十六、這份分析做不到的事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引用時應一併說明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1440000"/>
            <a:ext cx="11041200" cy="43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6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• 氫氣濃度為差額推算，非直接量測（分析儀僅量二氧化碳與甲烷）</a:t>
            </a:r>
          </a:p>
          <a:p>
            <a:pPr algn="l">
              <a:spcAft>
                <a:spcPts val="16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• 無法區分氫氣流失的機制：洩漏、穿透、或其他耗氫生化反應</a:t>
            </a:r>
          </a:p>
          <a:p>
            <a:pPr algn="l">
              <a:spcAft>
                <a:spcPts val="16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• 僅 35 筆可用的氣體組成資料，平均每 11 天一筆</a:t>
            </a:r>
          </a:p>
          <a:p>
            <a:pPr algn="l">
              <a:spcAft>
                <a:spcPts val="16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• 碳源中斷時進料組成同時改變，兩時段的差異不僅限於碳源有無</a:t>
            </a:r>
          </a:p>
          <a:p>
            <a:pPr algn="l">
              <a:spcAft>
                <a:spcPts val="16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• 酸鹼值的結果效應量極小（約為儀器刻度的七分之一），屬方向性證據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十七、建議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第一項完成前，其餘方向都無法定案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1296000"/>
            <a:ext cx="11041200" cy="14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最優先：氫氣氣密性檢查</a:t>
            </a:r>
          </a:p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於無菌或不含微生物的條件下，以氮氣與氫氣分別充壓至相同絕對壓力，記錄 24 小時的壓力變化。氫氣若衰減顯著較快，即為直接證據。同時建議檢查橡膠墊片的材質是否適用於氫氣。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6000" y="3024000"/>
          <a:ext cx="11051999" cy="2034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72000"/>
                <a:gridCol w="2160000"/>
                <a:gridCol w="2015999"/>
                <a:gridCol w="5004000"/>
              </a:tblGrid>
              <a:tr h="378000"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項目</a:t>
                      </a:r>
                    </a:p>
                  </a:txBody>
                  <a:tcPr marL="72000" marR="72000" anchor="ctr">
                    <a:solidFill>
                      <a:srgbClr val="2E9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現況</a:t>
                      </a:r>
                    </a:p>
                  </a:txBody>
                  <a:tcPr marL="72000" marR="72000" anchor="ctr">
                    <a:solidFill>
                      <a:srgbClr val="2E9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建議</a:t>
                      </a:r>
                    </a:p>
                  </a:txBody>
                  <a:tcPr marL="72000" marR="72000" anchor="ctr">
                    <a:solidFill>
                      <a:srgbClr val="2E9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可解鎖什麼</a:t>
                      </a:r>
                    </a:p>
                  </a:txBody>
                  <a:tcPr marL="72000" marR="72000" anchor="ctr">
                    <a:solidFill>
                      <a:srgbClr val="2E9BD6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排氣頻率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平均每 11 天一次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每 3.5 小時一次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一週的資料量超過過去一整年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排氣期取樣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每分鐘一筆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每 10 秒一筆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排氣僅橫跨 3~4 筆，容易錯過峰值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酸鹼值解析度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0.01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0.001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pH</a:t>
                      </a:r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 是唯一符號相反的判別通道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氣體分析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CO</a:t>
                      </a:r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₂、</a:t>
                      </a:r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CH</a:t>
                      </a:r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₄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加測 </a:t>
                      </a:r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H</a:t>
                      </a:r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₂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核心結論可由推算改為直接量測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排氣氣體量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未量測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加裝氣量計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直接關閉氣體收支的缺口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十八、需要協助與確認的事項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2026-09-23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1188000"/>
            <a:ext cx="11041200" cy="1655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最優先：無菌（或不含活性菌）靜態保壓</a:t>
            </a:r>
          </a:p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以 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N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₂ 與 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H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₂ 分別充壓至相同絕對壓力，各記錄約 </a:t>
            </a:r>
            <a:r>
              <a:rPr sz="19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3.5 天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。這是目前唯一能分辨「氫氣流失」與「水裡的碳冒回來」的方法。</a:t>
            </a:r>
          </a:p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⚠ 關鍵細節：前 33 小時的資料不可採計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——剛充壓時氣體仍在溶進水裡，那段壓降不是洩漏。須等氣體溶進水的過程走完之後，才開始計算。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6000" y="3096000"/>
          <a:ext cx="1105200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420000"/>
                <a:gridCol w="3420000"/>
                <a:gridCol w="4212000"/>
              </a:tblGrid>
              <a:tr h="378000"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量到什麼</a:t>
                      </a:r>
                    </a:p>
                  </a:txBody>
                  <a:tcPr marL="72000" marR="72000" anchor="ctr">
                    <a:solidFill>
                      <a:srgbClr val="2E9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代表什麼</a:t>
                      </a:r>
                    </a:p>
                  </a:txBody>
                  <a:tcPr marL="72000" marR="72000" anchor="ctr">
                    <a:solidFill>
                      <a:srgbClr val="2E9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後續處置</a:t>
                      </a:r>
                    </a:p>
                  </a:txBody>
                  <a:tcPr marL="72000" marR="72000" anchor="ctr">
                    <a:solidFill>
                      <a:srgbClr val="2E9BD6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H</a:t>
                      </a:r>
                      <a:r>
                        <a:rPr sz="1500" b="1" i="0">
                          <a:solidFill>
                            <a:srgbClr val="FF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₂ 掉得比 </a:t>
                      </a:r>
                      <a:r>
                        <a:rPr sz="1500" b="1" i="0">
                          <a:solidFill>
                            <a:srgbClr val="FF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N</a:t>
                      </a:r>
                      <a:r>
                        <a:rPr sz="1500" b="1" i="0">
                          <a:solidFill>
                            <a:srgbClr val="FF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₂ 快約 3.74 倍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機械洩漏（</a:t>
                      </a:r>
                      <a:r>
                        <a:rPr sz="1500" b="1" i="0">
                          <a:solidFill>
                            <a:srgbClr val="FF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Graham</a:t>
                      </a:r>
                      <a:r>
                        <a:rPr sz="1500" b="1" i="0">
                          <a:solidFill>
                            <a:srgbClr val="FF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 定律）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查接頭、閥件、焊道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比例不是 3.74，但 </a:t>
                      </a:r>
                      <a:r>
                        <a:rPr sz="15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H</a:t>
                      </a:r>
                      <a:r>
                        <a:rPr sz="15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₂ 明顯較快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材料穿透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更換墊片材質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兩者都幾乎不掉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洩漏被排除，剩水裡的碳冒回來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改由加密排氣取樣驗證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76000" y="4824000"/>
            <a:ext cx="11041200" cy="14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需要確認的現場資訊（未敢自行假設）：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① 滅菌／去活性方式　② </a:t>
            </a:r>
            <a:r>
              <a:rPr sz="18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液位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（最優先，水佔三成 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vs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 七成，整機速率差 2.3 倍）　③ 墊片材質　④ 水溫　⑤ 總容積究竟是 1.8 還是 1.99 </a:t>
            </a:r>
            <a:r>
              <a:rPr sz="1700" b="0" i="1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L</a:t>
            </a:r>
          </a:p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⑥ </a:t>
            </a:r>
            <a:r>
              <a:rPr sz="18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水裡的碳總量（鹼度 </a:t>
            </a:r>
            <a:r>
              <a:rPr sz="18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TA</a:t>
            </a:r>
            <a:r>
              <a:rPr sz="18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 或總溶解無機碳）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（需做酸鹼滴定）——目前這個量是由 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pH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 回推的，而它直接決定上述兩個機制的強度。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