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160000"/>
            <a:ext cx="10753200" cy="23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1200"/>
              </a:spcAft>
            </a:pPr>
            <a:r>
              <a:rPr sz="34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ICEA</a:t>
            </a:r>
            <a:r>
              <a:rPr sz="34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2026 論文圖檔</a:t>
            </a:r>
          </a:p>
          <a:p>
            <a:pPr algn="ctr">
              <a:spcAft>
                <a:spcPts val="16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四張圖的可編輯原始檔</a:t>
            </a:r>
          </a:p>
          <a:p>
            <a:pPr algn="ctr">
              <a:spcAft>
                <a:spcPts val="8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每張圖一頁。</a:t>
            </a: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PowerPoint</a:t>
            </a: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2016 以後可在圖上按右鍵 →「轉換成圖形」，把向量圖拆成可個別編輯的方框與文字。</a:t>
            </a:r>
          </a:p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所有圖都由程式產生，改內容請改程式後重跑，不要只改 </a:t>
            </a:r>
            <a:r>
              <a:rPr sz="1300" b="0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PPT</a:t>
            </a:r>
            <a:r>
              <a:rPr sz="1300" b="0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 —— 否則論文與簡報會不一致。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Fig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. 1　設備照片與階梯式分壓架構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2</a:t>
            </a:r>
          </a:p>
        </p:txBody>
      </p:sp>
      <p:pic>
        <p:nvPicPr>
          <p:cNvPr id="6" name="Picture 5" descr="fig1_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224000"/>
            <a:ext cx="11041200" cy="34432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00" y="5922000"/>
            <a:ext cx="110412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原始程式：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docs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build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figpack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py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內組版；(</a:t>
            </a:r>
            <a:r>
              <a:rPr sz="1200" b="0" i="1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b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) 由 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edge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backend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cascade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narrow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py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產生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向量檔：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docs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paper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figures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1_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equipment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svg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（與 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pdf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）</a:t>
            </a:r>
            <a:r>
              <a:rPr sz="1200" b="0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　　本頁插入的是 </a:t>
            </a:r>
            <a:r>
              <a:rPr sz="1200" b="0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Fig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. 2　壓力軌跡與挖掘流程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3</a:t>
            </a:r>
          </a:p>
        </p:txBody>
      </p:sp>
      <p:pic>
        <p:nvPicPr>
          <p:cNvPr id="6" name="Picture 5" descr="figD_devic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89" y="1224000"/>
            <a:ext cx="8967821" cy="44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00" y="5922000"/>
            <a:ext cx="110412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原始程式：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edge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backend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device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pipeline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py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向量檔：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docs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paper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figures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figD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device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pipeline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svg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（與 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pdf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）</a:t>
            </a:r>
            <a:r>
              <a:rPr sz="1200" b="0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　　本頁插入的是 </a:t>
            </a:r>
            <a:r>
              <a:rPr sz="1200" b="0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Fig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. 3　方法流程圖（含三個演算法的涵蓋範圍）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4</a:t>
            </a:r>
          </a:p>
        </p:txBody>
      </p:sp>
      <p:pic>
        <p:nvPicPr>
          <p:cNvPr id="6" name="Picture 5" descr="figF_metho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326" y="1224000"/>
            <a:ext cx="8586547" cy="44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00" y="5922000"/>
            <a:ext cx="110412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原始程式：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edge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backend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method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flow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py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向量檔：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docs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paper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figures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figF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method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flow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svg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（與 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pdf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）</a:t>
            </a:r>
            <a:r>
              <a:rPr sz="1200" b="0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　　本頁插入的是 </a:t>
            </a:r>
            <a:r>
              <a:rPr sz="1200" b="0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Fig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. 4　配對基準與偏誤分解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5</a:t>
            </a:r>
          </a:p>
        </p:txBody>
      </p:sp>
      <p:pic>
        <p:nvPicPr>
          <p:cNvPr id="6" name="Picture 5" descr="figB_matched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02" y="1224000"/>
            <a:ext cx="10655795" cy="44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00" y="5922000"/>
            <a:ext cx="110412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原始程式：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edge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backend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degeneracy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invert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py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向量檔：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docs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paper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figures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figB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matched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_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baseline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svg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（與 .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pdf</a:t>
            </a:r>
            <a:r>
              <a:rPr sz="12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）</a:t>
            </a:r>
            <a:r>
              <a:rPr sz="1200" b="0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　　本頁插入的是 </a:t>
            </a:r>
            <a:r>
              <a:rPr sz="1200" b="0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